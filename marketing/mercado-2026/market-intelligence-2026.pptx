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8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9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1764e04b-cd48-0350-c844-8c74ba9c598d}">
          <p14:sldIdLst>
            <p14:sldId id="256"/>
            <p14:sldId id="257"/>
            <p14:sldId id="258"/>
          </p14:sldIdLst>
        </p14:section>
        <p14:section name="Mercado global y posición de Drean" id="{54e3fc39-8868-a93a-3ffe-1f592cab605a}">
          <p14:sldIdLst>
            <p14:sldId id="259"/>
            <p14:sldId id="260"/>
            <p14:sldId id="261"/>
          </p14:sldIdLst>
        </p14:section>
        <p14:section name="Lavado" id="{c9a9a6ed-8a02-ff5d-2238-5dc4b9bf5d18}">
          <p14:sldIdLst>
            <p14:sldId id="262"/>
            <p14:sldId id="263"/>
            <p14:sldId id="264"/>
          </p14:sldIdLst>
        </p14:section>
        <p14:section name="Refrigeración" id="{dc20474a-3366-3596-ca24-753fe8f7607e}">
          <p14:sldIdLst>
            <p14:sldId id="265"/>
            <p14:sldId id="266"/>
            <p14:sldId id="267"/>
          </p14:sldIdLst>
        </p14:section>
        <p14:section name="Cocción" id="{febe10c5-128a-e7ba-6893-f1b86f0b4998}">
          <p14:sldIdLst>
            <p14:sldId id="268"/>
            <p14:sldId id="269"/>
            <p14:sldId id="270"/>
          </p14:sldIdLst>
        </p14:section>
        <p14:section name="Análisis transversal" id="{7db79346-c50b-728b-cf0a-2d3cc6df74e2}">
          <p14:sldIdLst>
            <p14:sldId id="271"/>
            <p14:sldId id="272"/>
            <p14:sldId id="273"/>
            <p14:sldId id="274"/>
          </p14:sldIdLst>
        </p14:section>
        <p14:section name="Hallazgos e implicancias" id="{b2ad59a1-6a38-94d8-76aa-92a1843c69ea}">
          <p14:sldIdLst>
            <p14:sldId id="275"/>
            <p14:sldId id="276"/>
            <p14:sldId id="277"/>
          </p14:sldIdLst>
        </p14:section>
        <p14:section name="Metodología y limitaciones" id="{a478f72e-eeb1-4172-a197-3d498142f468}">
          <p14:sldIdLst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pp</c:v>
                </c:pt>
              </c:strCache>
            </c:strRef>
          </c:tx>
          <c:spPr>
            <a:solidFill>
              <a:srgbClr val="15803D"/>
            </a:solidFill>
            <a:effectLst/>
          </c:spPr>
          <c:invertIfNegative val="0"/>
          <c:dLbls>
            <c:numFmt formatCode="+0.0;-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cat>
            <c:multiLvlStrRef>
              <c:f>Sheet1!$A$2:$A$15</c:f>
              <c:multiLvlStrCache>
                <c:ptCount val="14"/>
                <c:lvl>
                  <c:pt idx="0">
                    <c:v>Philco · Lavado</c:v>
                  </c:pt>
                  <c:pt idx="1">
                    <c:v>Drean · Cocción</c:v>
                  </c:pt>
                  <c:pt idx="2">
                    <c:v>Midea · Refrigeración</c:v>
                  </c:pt>
                  <c:pt idx="3">
                    <c:v>BGH · Refrigeración</c:v>
                  </c:pt>
                  <c:pt idx="4">
                    <c:v>Philco · Cocción</c:v>
                  </c:pt>
                  <c:pt idx="5">
                    <c:v>Midea · Lavado</c:v>
                  </c:pt>
                  <c:pt idx="6">
                    <c:v>Philco · Refrigeración</c:v>
                  </c:pt>
                  <c:pt idx="7">
                    <c:v>Drean · Refrigeración</c:v>
                  </c:pt>
                  <c:pt idx="8">
                    <c:v>Whirlpool · Refrigeración</c:v>
                  </c:pt>
                  <c:pt idx="9">
                    <c:v>Whirlpool · Lavado</c:v>
                  </c:pt>
                  <c:pt idx="10">
                    <c:v>Samsung · Refrigeración</c:v>
                  </c:pt>
                  <c:pt idx="11">
                    <c:v>Samsung · Lavado</c:v>
                  </c:pt>
                  <c:pt idx="12">
                    <c:v>Drean · Lavado</c:v>
                  </c:pt>
                  <c:pt idx="13">
                    <c:v>Escorial · Cocción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9.2</c:v>
                </c:pt>
                <c:pt idx="1">
                  <c:v>6.9</c:v>
                </c:pt>
                <c:pt idx="2">
                  <c:v>3.9</c:v>
                </c:pt>
                <c:pt idx="3">
                  <c:v>3.2</c:v>
                </c:pt>
                <c:pt idx="4">
                  <c:v>3</c:v>
                </c:pt>
                <c:pt idx="5">
                  <c:v>2.8</c:v>
                </c:pt>
                <c:pt idx="6">
                  <c:v>2.5</c:v>
                </c:pt>
                <c:pt idx="7">
                  <c:v>-2</c:v>
                </c:pt>
                <c:pt idx="8">
                  <c:v>-2.7</c:v>
                </c:pt>
                <c:pt idx="9">
                  <c:v>-4.3</c:v>
                </c:pt>
                <c:pt idx="10">
                  <c:v>-4.3</c:v>
                </c:pt>
                <c:pt idx="11">
                  <c:v>-5.2</c:v>
                </c:pt>
                <c:pt idx="12">
                  <c:v>-6.1</c:v>
                </c:pt>
                <c:pt idx="13">
                  <c:v>-7.6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b="0" i="0" strike="noStrike" sz="9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Unidades 2026</c:v>
                </c:pt>
              </c:strCache>
            </c:strRef>
          </c:tx>
          <c:spPr>
            <a:solidFill>
              <a:srgbClr val="0B2545"/>
            </a:solidFill>
            <a:ln w="28575" cap="flat">
              <a:solidFill>
                <a:srgbClr val="0B25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B2545"/>
              </a:solidFill>
              <a:ln w="9525" cap="flat">
                <a:solidFill>
                  <a:srgbClr val="0B25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Ago*</c:v>
                  </c:pt>
                  <c:pt idx="8">
                    <c:v>Sep*</c:v>
                  </c:pt>
                  <c:pt idx="9">
                    <c:v>Oct*</c:v>
                  </c:pt>
                  <c:pt idx="10">
                    <c:v>Nov*</c:v>
                  </c:pt>
                  <c:pt idx="11">
                    <c:v>Dic*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0.0</c:formatCode>
                <c:ptCount val="12"/>
                <c:pt idx="0">
                  <c:v>27.78</c:v>
                </c:pt>
                <c:pt idx="1">
                  <c:v>25.45</c:v>
                </c:pt>
                <c:pt idx="2">
                  <c:v>27.91</c:v>
                </c:pt>
                <c:pt idx="3">
                  <c:v>25.46</c:v>
                </c:pt>
                <c:pt idx="4">
                  <c:v>22.31</c:v>
                </c:pt>
                <c:pt idx="5">
                  <c:v>22.02</c:v>
                </c:pt>
                <c:pt idx="6">
                  <c:v>24.89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Valor 2026</c:v>
                </c:pt>
              </c:strCache>
            </c:strRef>
          </c:tx>
          <c:spPr>
            <a:solidFill>
              <a:srgbClr val="1D4ED8"/>
            </a:solidFill>
            <a:ln w="28575" cap="flat">
              <a:solidFill>
                <a:srgbClr val="1D4E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D4ED8"/>
              </a:solidFill>
              <a:ln w="9525" cap="flat">
                <a:solidFill>
                  <a:srgbClr val="1D4E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Ago*</c:v>
                  </c:pt>
                  <c:pt idx="8">
                    <c:v>Sep*</c:v>
                  </c:pt>
                  <c:pt idx="9">
                    <c:v>Oct*</c:v>
                  </c:pt>
                  <c:pt idx="10">
                    <c:v>Nov*</c:v>
                  </c:pt>
                  <c:pt idx="11">
                    <c:v>Dic*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0.0</c:formatCode>
                <c:ptCount val="12"/>
                <c:pt idx="0">
                  <c:v>27.39</c:v>
                </c:pt>
                <c:pt idx="1">
                  <c:v>25.94</c:v>
                </c:pt>
                <c:pt idx="2">
                  <c:v>26.94</c:v>
                </c:pt>
                <c:pt idx="3">
                  <c:v>24.81</c:v>
                </c:pt>
                <c:pt idx="4">
                  <c:v>21.49</c:v>
                </c:pt>
                <c:pt idx="5">
                  <c:v>21.86</c:v>
                </c:pt>
                <c:pt idx="6">
                  <c:v>25.41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Unidades 2025</c:v>
                </c:pt>
              </c:strCache>
            </c:strRef>
          </c:tx>
          <c:spPr>
            <a:solidFill>
              <a:srgbClr val="9CA3AF"/>
            </a:solidFill>
            <a:ln w="28575" cap="flat">
              <a:solidFill>
                <a:srgbClr val="9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Ago*</c:v>
                  </c:pt>
                  <c:pt idx="8">
                    <c:v>Sep*</c:v>
                  </c:pt>
                  <c:pt idx="9">
                    <c:v>Oct*</c:v>
                  </c:pt>
                  <c:pt idx="10">
                    <c:v>Nov*</c:v>
                  </c:pt>
                  <c:pt idx="11">
                    <c:v>Dic*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0.0</c:formatCode>
                <c:ptCount val="12"/>
                <c:pt idx="0">
                  <c:v>37.2</c:v>
                </c:pt>
                <c:pt idx="1">
                  <c:v>38.8</c:v>
                </c:pt>
                <c:pt idx="2">
                  <c:v>34.13</c:v>
                </c:pt>
                <c:pt idx="3">
                  <c:v/>
                </c:pt>
                <c:pt idx="4">
                  <c:v>29.83</c:v>
                </c:pt>
                <c:pt idx="5">
                  <c:v>29.67</c:v>
                </c:pt>
                <c:pt idx="6">
                  <c:v>27.9</c:v>
                </c:pt>
                <c:pt idx="7">
                  <c:v>30.47</c:v>
                </c:pt>
                <c:pt idx="8">
                  <c:v>29.47</c:v>
                </c:pt>
                <c:pt idx="9">
                  <c:v>31.68</c:v>
                </c:pt>
                <c:pt idx="10">
                  <c:v>26.5</c:v>
                </c:pt>
                <c:pt idx="11">
                  <c:v>30.01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share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6B72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B7280"/>
                </a:solidFill>
                <a:latin typeface="Arial"/>
              </a:rPr>
              <a:t>Share unidades MAT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Drean</c:v>
                </c:pt>
              </c:strCache>
            </c:strRef>
          </c:tx>
          <c:spPr>
            <a:solidFill>
              <a:srgbClr val="0B2545"/>
            </a:solidFill>
            <a:ln w="22225" cap="flat">
              <a:solidFill>
                <a:srgbClr val="0B25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2545"/>
              </a:solidFill>
              <a:ln w="9525" cap="flat">
                <a:solidFill>
                  <a:srgbClr val="0B25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Ene 24</c:v>
                  </c:pt>
                  <c:pt idx="1">
                    <c:v>Feb 24</c:v>
                  </c:pt>
                  <c:pt idx="2">
                    <c:v>Mar 24</c:v>
                  </c:pt>
                  <c:pt idx="3">
                    <c:v>Abr 24</c:v>
                  </c:pt>
                  <c:pt idx="4">
                    <c:v>May 24</c:v>
                  </c:pt>
                  <c:pt idx="5">
                    <c:v>Jun 24</c:v>
                  </c:pt>
                  <c:pt idx="6">
                    <c:v>Jul 24</c:v>
                  </c:pt>
                  <c:pt idx="7">
                    <c:v>Ago 24</c:v>
                  </c:pt>
                  <c:pt idx="8">
                    <c:v>Sep 24</c:v>
                  </c:pt>
                  <c:pt idx="9">
                    <c:v>Oct 24</c:v>
                  </c:pt>
                  <c:pt idx="10">
                    <c:v>Nov 24</c:v>
                  </c:pt>
                  <c:pt idx="11">
                    <c:v>Dic 24</c:v>
                  </c:pt>
                  <c:pt idx="12">
                    <c:v>Ene 25</c:v>
                  </c:pt>
                  <c:pt idx="13">
                    <c:v>Feb 25</c:v>
                  </c:pt>
                  <c:pt idx="14">
                    <c:v>Mar 25</c:v>
                  </c:pt>
                  <c:pt idx="15">
                    <c:v>May 25</c:v>
                  </c:pt>
                  <c:pt idx="16">
                    <c:v>Jun 25</c:v>
                  </c:pt>
                  <c:pt idx="17">
                    <c:v>Jul 25</c:v>
                  </c:pt>
                  <c:pt idx="18">
                    <c:v>Ago 25</c:v>
                  </c:pt>
                  <c:pt idx="19">
                    <c:v>Sep 25</c:v>
                  </c:pt>
                  <c:pt idx="20">
                    <c:v>Oct 25</c:v>
                  </c:pt>
                  <c:pt idx="21">
                    <c:v>Nov 25</c:v>
                  </c:pt>
                  <c:pt idx="22">
                    <c:v>Dic 25</c:v>
                  </c:pt>
                  <c:pt idx="23">
                    <c:v>Ene 26</c:v>
                  </c:pt>
                  <c:pt idx="24">
                    <c:v>Feb 26</c:v>
                  </c:pt>
                  <c:pt idx="25">
                    <c:v>Mar 26</c:v>
                  </c:pt>
                  <c:pt idx="26">
                    <c:v>Abr 26</c:v>
                  </c:pt>
                  <c:pt idx="27">
                    <c:v>May 26</c:v>
                  </c:pt>
                  <c:pt idx="28">
                    <c:v>Jun 26</c:v>
                  </c:pt>
                  <c:pt idx="29">
                    <c:v>Jul 26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39.3</c:v>
                </c:pt>
                <c:pt idx="1">
                  <c:v>39.32</c:v>
                </c:pt>
                <c:pt idx="2">
                  <c:v>39.13</c:v>
                </c:pt>
                <c:pt idx="3">
                  <c:v>38.85</c:v>
                </c:pt>
                <c:pt idx="4">
                  <c:v>38.2</c:v>
                </c:pt>
                <c:pt idx="5">
                  <c:v>37.86</c:v>
                </c:pt>
                <c:pt idx="6">
                  <c:v>36.91</c:v>
                </c:pt>
                <c:pt idx="7">
                  <c:v>36.49</c:v>
                </c:pt>
                <c:pt idx="8">
                  <c:v>36.21</c:v>
                </c:pt>
                <c:pt idx="9">
                  <c:v>36.17</c:v>
                </c:pt>
                <c:pt idx="10">
                  <c:v>35.6</c:v>
                </c:pt>
                <c:pt idx="11">
                  <c:v>35.52</c:v>
                </c:pt>
                <c:pt idx="12">
                  <c:v>35.52</c:v>
                </c:pt>
                <c:pt idx="13">
                  <c:v>35.65</c:v>
                </c:pt>
                <c:pt idx="14">
                  <c:v>35.47</c:v>
                </c:pt>
                <c:pt idx="15">
                  <c:v>34.09</c:v>
                </c:pt>
                <c:pt idx="16">
                  <c:v>33.59</c:v>
                </c:pt>
                <c:pt idx="17">
                  <c:v>32.73</c:v>
                </c:pt>
                <c:pt idx="18">
                  <c:v>32.46</c:v>
                </c:pt>
                <c:pt idx="19">
                  <c:v>31.97</c:v>
                </c:pt>
                <c:pt idx="20">
                  <c:v>31.61</c:v>
                </c:pt>
                <c:pt idx="21">
                  <c:v>31.13</c:v>
                </c:pt>
                <c:pt idx="22">
                  <c:v>30.94</c:v>
                </c:pt>
                <c:pt idx="23">
                  <c:v>30.33</c:v>
                </c:pt>
                <c:pt idx="24">
                  <c:v>29.55</c:v>
                </c:pt>
                <c:pt idx="25">
                  <c:v>29.05</c:v>
                </c:pt>
                <c:pt idx="26">
                  <c:v>28.56</c:v>
                </c:pt>
                <c:pt idx="27">
                  <c:v>27.6</c:v>
                </c:pt>
                <c:pt idx="28">
                  <c:v>26.96</c:v>
                </c:pt>
                <c:pt idx="29">
                  <c:v>26.61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Philco</c:v>
                </c:pt>
              </c:strCache>
            </c:strRef>
          </c:tx>
          <c:spPr>
            <a:solidFill>
              <a:srgbClr val="93C5FD"/>
            </a:solidFill>
            <a:ln w="22225" cap="flat">
              <a:solidFill>
                <a:srgbClr val="93C5F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3C5FD"/>
              </a:solidFill>
              <a:ln w="9525" cap="flat">
                <a:solidFill>
                  <a:srgbClr val="93C5F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Ene 24</c:v>
                  </c:pt>
                  <c:pt idx="1">
                    <c:v>Feb 24</c:v>
                  </c:pt>
                  <c:pt idx="2">
                    <c:v>Mar 24</c:v>
                  </c:pt>
                  <c:pt idx="3">
                    <c:v>Abr 24</c:v>
                  </c:pt>
                  <c:pt idx="4">
                    <c:v>May 24</c:v>
                  </c:pt>
                  <c:pt idx="5">
                    <c:v>Jun 24</c:v>
                  </c:pt>
                  <c:pt idx="6">
                    <c:v>Jul 24</c:v>
                  </c:pt>
                  <c:pt idx="7">
                    <c:v>Ago 24</c:v>
                  </c:pt>
                  <c:pt idx="8">
                    <c:v>Sep 24</c:v>
                  </c:pt>
                  <c:pt idx="9">
                    <c:v>Oct 24</c:v>
                  </c:pt>
                  <c:pt idx="10">
                    <c:v>Nov 24</c:v>
                  </c:pt>
                  <c:pt idx="11">
                    <c:v>Dic 24</c:v>
                  </c:pt>
                  <c:pt idx="12">
                    <c:v>Ene 25</c:v>
                  </c:pt>
                  <c:pt idx="13">
                    <c:v>Feb 25</c:v>
                  </c:pt>
                  <c:pt idx="14">
                    <c:v>Mar 25</c:v>
                  </c:pt>
                  <c:pt idx="15">
                    <c:v>May 25</c:v>
                  </c:pt>
                  <c:pt idx="16">
                    <c:v>Jun 25</c:v>
                  </c:pt>
                  <c:pt idx="17">
                    <c:v>Jul 25</c:v>
                  </c:pt>
                  <c:pt idx="18">
                    <c:v>Ago 25</c:v>
                  </c:pt>
                  <c:pt idx="19">
                    <c:v>Sep 25</c:v>
                  </c:pt>
                  <c:pt idx="20">
                    <c:v>Oct 25</c:v>
                  </c:pt>
                  <c:pt idx="21">
                    <c:v>Nov 25</c:v>
                  </c:pt>
                  <c:pt idx="22">
                    <c:v>Dic 25</c:v>
                  </c:pt>
                  <c:pt idx="23">
                    <c:v>Ene 26</c:v>
                  </c:pt>
                  <c:pt idx="24">
                    <c:v>Feb 26</c:v>
                  </c:pt>
                  <c:pt idx="25">
                    <c:v>Mar 26</c:v>
                  </c:pt>
                  <c:pt idx="26">
                    <c:v>Abr 26</c:v>
                  </c:pt>
                  <c:pt idx="27">
                    <c:v>May 26</c:v>
                  </c:pt>
                  <c:pt idx="28">
                    <c:v>Jun 26</c:v>
                  </c:pt>
                  <c:pt idx="29">
                    <c:v>Jul 26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4.31</c:v>
                </c:pt>
                <c:pt idx="16">
                  <c:v>5.13</c:v>
                </c:pt>
                <c:pt idx="17">
                  <c:v>7.01</c:v>
                </c:pt>
                <c:pt idx="18">
                  <c:v>8.06</c:v>
                </c:pt>
                <c:pt idx="19">
                  <c:v>9.09</c:v>
                </c:pt>
                <c:pt idx="20">
                  <c:v>10.4</c:v>
                </c:pt>
                <c:pt idx="21">
                  <c:v>11.84</c:v>
                </c:pt>
                <c:pt idx="22">
                  <c:v>12.36</c:v>
                </c:pt>
                <c:pt idx="23">
                  <c:v>12.83</c:v>
                </c:pt>
                <c:pt idx="24">
                  <c:v>13.37</c:v>
                </c:pt>
                <c:pt idx="25">
                  <c:v>13.93</c:v>
                </c:pt>
                <c:pt idx="26">
                  <c:v>14.5</c:v>
                </c:pt>
                <c:pt idx="27">
                  <c:v>15.07</c:v>
                </c:pt>
                <c:pt idx="28">
                  <c:v>15.89</c:v>
                </c:pt>
                <c:pt idx="29">
                  <c:v>16.16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Samsung</c:v>
                </c:pt>
              </c:strCache>
            </c:strRef>
          </c:tx>
          <c:spPr>
            <a:solidFill>
              <a:srgbClr val="9CA3AF"/>
            </a:solidFill>
            <a:ln w="22225" cap="flat">
              <a:solidFill>
                <a:srgbClr val="9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Ene 24</c:v>
                  </c:pt>
                  <c:pt idx="1">
                    <c:v>Feb 24</c:v>
                  </c:pt>
                  <c:pt idx="2">
                    <c:v>Mar 24</c:v>
                  </c:pt>
                  <c:pt idx="3">
                    <c:v>Abr 24</c:v>
                  </c:pt>
                  <c:pt idx="4">
                    <c:v>May 24</c:v>
                  </c:pt>
                  <c:pt idx="5">
                    <c:v>Jun 24</c:v>
                  </c:pt>
                  <c:pt idx="6">
                    <c:v>Jul 24</c:v>
                  </c:pt>
                  <c:pt idx="7">
                    <c:v>Ago 24</c:v>
                  </c:pt>
                  <c:pt idx="8">
                    <c:v>Sep 24</c:v>
                  </c:pt>
                  <c:pt idx="9">
                    <c:v>Oct 24</c:v>
                  </c:pt>
                  <c:pt idx="10">
                    <c:v>Nov 24</c:v>
                  </c:pt>
                  <c:pt idx="11">
                    <c:v>Dic 24</c:v>
                  </c:pt>
                  <c:pt idx="12">
                    <c:v>Ene 25</c:v>
                  </c:pt>
                  <c:pt idx="13">
                    <c:v>Feb 25</c:v>
                  </c:pt>
                  <c:pt idx="14">
                    <c:v>Mar 25</c:v>
                  </c:pt>
                  <c:pt idx="15">
                    <c:v>May 25</c:v>
                  </c:pt>
                  <c:pt idx="16">
                    <c:v>Jun 25</c:v>
                  </c:pt>
                  <c:pt idx="17">
                    <c:v>Jul 25</c:v>
                  </c:pt>
                  <c:pt idx="18">
                    <c:v>Ago 25</c:v>
                  </c:pt>
                  <c:pt idx="19">
                    <c:v>Sep 25</c:v>
                  </c:pt>
                  <c:pt idx="20">
                    <c:v>Oct 25</c:v>
                  </c:pt>
                  <c:pt idx="21">
                    <c:v>Nov 25</c:v>
                  </c:pt>
                  <c:pt idx="22">
                    <c:v>Dic 25</c:v>
                  </c:pt>
                  <c:pt idx="23">
                    <c:v>Ene 26</c:v>
                  </c:pt>
                  <c:pt idx="24">
                    <c:v>Feb 26</c:v>
                  </c:pt>
                  <c:pt idx="25">
                    <c:v>Mar 26</c:v>
                  </c:pt>
                  <c:pt idx="26">
                    <c:v>Abr 26</c:v>
                  </c:pt>
                  <c:pt idx="27">
                    <c:v>May 26</c:v>
                  </c:pt>
                  <c:pt idx="28">
                    <c:v>Jun 26</c:v>
                  </c:pt>
                  <c:pt idx="29">
                    <c:v>Jul 26</c:v>
                  </c:pt>
                </c:lvl>
              </c:multiLvlStrCache>
            </c:multiLvlStrRef>
          </c:cat>
          <c:val>
            <c:numRef>
              <c:f>Sheet1!$D$2:$D$31</c:f>
              <c:numCache>
                <c:formatCode>General</c:formatCode>
                <c:ptCount val="30"/>
                <c:pt idx="0">
                  <c:v>13.07</c:v>
                </c:pt>
                <c:pt idx="1">
                  <c:v>12.91</c:v>
                </c:pt>
                <c:pt idx="2">
                  <c:v>12.57</c:v>
                </c:pt>
                <c:pt idx="3">
                  <c:v>12.11</c:v>
                </c:pt>
                <c:pt idx="4">
                  <c:v>12.02</c:v>
                </c:pt>
                <c:pt idx="5">
                  <c:v>12</c:v>
                </c:pt>
                <c:pt idx="6">
                  <c:v>11.94</c:v>
                </c:pt>
                <c:pt idx="7">
                  <c:v>11.94</c:v>
                </c:pt>
                <c:pt idx="8">
                  <c:v>11.94</c:v>
                </c:pt>
                <c:pt idx="9">
                  <c:v>11.89</c:v>
                </c:pt>
                <c:pt idx="10">
                  <c:v>12.39</c:v>
                </c:pt>
                <c:pt idx="11">
                  <c:v>12.78</c:v>
                </c:pt>
                <c:pt idx="12">
                  <c:v>12.75</c:v>
                </c:pt>
                <c:pt idx="13">
                  <c:v>12.6</c:v>
                </c:pt>
                <c:pt idx="14">
                  <c:v>12.73</c:v>
                </c:pt>
                <c:pt idx="15">
                  <c:v>12.51</c:v>
                </c:pt>
                <c:pt idx="16">
                  <c:v>12.33</c:v>
                </c:pt>
                <c:pt idx="17">
                  <c:v>11.92</c:v>
                </c:pt>
                <c:pt idx="18">
                  <c:v>11.57</c:v>
                </c:pt>
                <c:pt idx="19">
                  <c:v>11.3</c:v>
                </c:pt>
                <c:pt idx="20">
                  <c:v>10.71</c:v>
                </c:pt>
                <c:pt idx="21">
                  <c:v>10.19</c:v>
                </c:pt>
                <c:pt idx="22">
                  <c:v>9.84</c:v>
                </c:pt>
                <c:pt idx="23">
                  <c:v>9.53</c:v>
                </c:pt>
                <c:pt idx="24">
                  <c:v>9.35</c:v>
                </c:pt>
                <c:pt idx="25">
                  <c:v>8.84</c:v>
                </c:pt>
                <c:pt idx="26">
                  <c:v>8.38</c:v>
                </c:pt>
                <c:pt idx="27">
                  <c:v>7.67</c:v>
                </c:pt>
                <c:pt idx="28">
                  <c:v>7.18</c:v>
                </c:pt>
                <c:pt idx="29">
                  <c:v>6.76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Codini</c:v>
                </c:pt>
              </c:strCache>
            </c:strRef>
          </c:tx>
          <c:spPr>
            <a:solidFill>
              <a:srgbClr val="0D9488"/>
            </a:solidFill>
            <a:ln w="22225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Ene 24</c:v>
                  </c:pt>
                  <c:pt idx="1">
                    <c:v>Feb 24</c:v>
                  </c:pt>
                  <c:pt idx="2">
                    <c:v>Mar 24</c:v>
                  </c:pt>
                  <c:pt idx="3">
                    <c:v>Abr 24</c:v>
                  </c:pt>
                  <c:pt idx="4">
                    <c:v>May 24</c:v>
                  </c:pt>
                  <c:pt idx="5">
                    <c:v>Jun 24</c:v>
                  </c:pt>
                  <c:pt idx="6">
                    <c:v>Jul 24</c:v>
                  </c:pt>
                  <c:pt idx="7">
                    <c:v>Ago 24</c:v>
                  </c:pt>
                  <c:pt idx="8">
                    <c:v>Sep 24</c:v>
                  </c:pt>
                  <c:pt idx="9">
                    <c:v>Oct 24</c:v>
                  </c:pt>
                  <c:pt idx="10">
                    <c:v>Nov 24</c:v>
                  </c:pt>
                  <c:pt idx="11">
                    <c:v>Dic 24</c:v>
                  </c:pt>
                  <c:pt idx="12">
                    <c:v>Ene 25</c:v>
                  </c:pt>
                  <c:pt idx="13">
                    <c:v>Feb 25</c:v>
                  </c:pt>
                  <c:pt idx="14">
                    <c:v>Mar 25</c:v>
                  </c:pt>
                  <c:pt idx="15">
                    <c:v>May 25</c:v>
                  </c:pt>
                  <c:pt idx="16">
                    <c:v>Jun 25</c:v>
                  </c:pt>
                  <c:pt idx="17">
                    <c:v>Jul 25</c:v>
                  </c:pt>
                  <c:pt idx="18">
                    <c:v>Ago 25</c:v>
                  </c:pt>
                  <c:pt idx="19">
                    <c:v>Sep 25</c:v>
                  </c:pt>
                  <c:pt idx="20">
                    <c:v>Oct 25</c:v>
                  </c:pt>
                  <c:pt idx="21">
                    <c:v>Nov 25</c:v>
                  </c:pt>
                  <c:pt idx="22">
                    <c:v>Dic 25</c:v>
                  </c:pt>
                  <c:pt idx="23">
                    <c:v>Ene 26</c:v>
                  </c:pt>
                  <c:pt idx="24">
                    <c:v>Feb 26</c:v>
                  </c:pt>
                  <c:pt idx="25">
                    <c:v>Mar 26</c:v>
                  </c:pt>
                  <c:pt idx="26">
                    <c:v>Abr 26</c:v>
                  </c:pt>
                  <c:pt idx="27">
                    <c:v>May 26</c:v>
                  </c:pt>
                  <c:pt idx="28">
                    <c:v>Jun 26</c:v>
                  </c:pt>
                  <c:pt idx="29">
                    <c:v>Jul 26</c:v>
                  </c:pt>
                </c:lvl>
              </c:multiLvlStrCache>
            </c:multiLvlStrRef>
          </c:cat>
          <c:val>
            <c:numRef>
              <c:f>Sheet1!$E$2:$E$31</c:f>
              <c:numCache>
                <c:formatCode>General</c:formatCode>
                <c:ptCount val="30"/>
                <c:pt idx="0">
                  <c:v>4.97</c:v>
                </c:pt>
                <c:pt idx="1">
                  <c:v>5.24</c:v>
                </c:pt>
                <c:pt idx="2">
                  <c:v>5.55</c:v>
                </c:pt>
                <c:pt idx="3">
                  <c:v>5.69</c:v>
                </c:pt>
                <c:pt idx="4">
                  <c:v>6.16</c:v>
                </c:pt>
                <c:pt idx="5">
                  <c:v>6.28</c:v>
                </c:pt>
                <c:pt idx="6">
                  <c:v>6.52</c:v>
                </c:pt>
                <c:pt idx="7">
                  <c:v>6.53</c:v>
                </c:pt>
                <c:pt idx="8">
                  <c:v>6.71</c:v>
                </c:pt>
                <c:pt idx="9">
                  <c:v>6.91</c:v>
                </c:pt>
                <c:pt idx="10">
                  <c:v>7.06</c:v>
                </c:pt>
                <c:pt idx="11">
                  <c:v>7.04</c:v>
                </c:pt>
                <c:pt idx="12">
                  <c:v>6.91</c:v>
                </c:pt>
                <c:pt idx="13">
                  <c:v>6.67</c:v>
                </c:pt>
                <c:pt idx="14">
                  <c:v>6.25</c:v>
                </c:pt>
                <c:pt idx="15">
                  <c:v>5.68</c:v>
                </c:pt>
                <c:pt idx="16">
                  <c:v>5.61</c:v>
                </c:pt>
                <c:pt idx="17">
                  <c:v>5.31</c:v>
                </c:pt>
                <c:pt idx="18">
                  <c:v>5.12</c:v>
                </c:pt>
                <c:pt idx="19">
                  <c:v>4.89</c:v>
                </c:pt>
                <c:pt idx="20">
                  <c:v>4.76</c:v>
                </c:pt>
                <c:pt idx="21">
                  <c:v>4.83</c:v>
                </c:pt>
                <c:pt idx="22">
                  <c:v>4.84</c:v>
                </c:pt>
                <c:pt idx="23">
                  <c:v>4.97</c:v>
                </c:pt>
                <c:pt idx="24">
                  <c:v>5.29</c:v>
                </c:pt>
                <c:pt idx="25">
                  <c:v>5.42</c:v>
                </c:pt>
                <c:pt idx="26">
                  <c:v>5.56</c:v>
                </c:pt>
                <c:pt idx="27">
                  <c:v>5.66</c:v>
                </c:pt>
                <c:pt idx="28">
                  <c:v>5.67</c:v>
                </c:pt>
                <c:pt idx="29">
                  <c:v>5.77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2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Unidades 2026</c:v>
                </c:pt>
              </c:strCache>
            </c:strRef>
          </c:tx>
          <c:spPr>
            <a:solidFill>
              <a:srgbClr val="0B2545"/>
            </a:solidFill>
            <a:ln w="28575" cap="flat">
              <a:solidFill>
                <a:srgbClr val="0B25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B2545"/>
              </a:solidFill>
              <a:ln w="9525" cap="flat">
                <a:solidFill>
                  <a:srgbClr val="0B25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Ago*</c:v>
                  </c:pt>
                  <c:pt idx="8">
                    <c:v>Sep*</c:v>
                  </c:pt>
                  <c:pt idx="9">
                    <c:v>Oct*</c:v>
                  </c:pt>
                  <c:pt idx="10">
                    <c:v>Nov*</c:v>
                  </c:pt>
                  <c:pt idx="11">
                    <c:v>Dic*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0.0</c:formatCode>
                <c:ptCount val="12"/>
                <c:pt idx="0">
                  <c:v>19</c:v>
                </c:pt>
                <c:pt idx="1">
                  <c:v>19.46</c:v>
                </c:pt>
                <c:pt idx="2">
                  <c:v>19.77</c:v>
                </c:pt>
                <c:pt idx="3">
                  <c:v>20.07</c:v>
                </c:pt>
                <c:pt idx="4">
                  <c:v>17.91</c:v>
                </c:pt>
                <c:pt idx="5">
                  <c:v>18.23</c:v>
                </c:pt>
                <c:pt idx="6">
                  <c:v>20.16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Valor 2026</c:v>
                </c:pt>
              </c:strCache>
            </c:strRef>
          </c:tx>
          <c:spPr>
            <a:solidFill>
              <a:srgbClr val="1D4ED8"/>
            </a:solidFill>
            <a:ln w="28575" cap="flat">
              <a:solidFill>
                <a:srgbClr val="1D4E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D4ED8"/>
              </a:solidFill>
              <a:ln w="9525" cap="flat">
                <a:solidFill>
                  <a:srgbClr val="1D4E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Ago*</c:v>
                  </c:pt>
                  <c:pt idx="8">
                    <c:v>Sep*</c:v>
                  </c:pt>
                  <c:pt idx="9">
                    <c:v>Oct*</c:v>
                  </c:pt>
                  <c:pt idx="10">
                    <c:v>Nov*</c:v>
                  </c:pt>
                  <c:pt idx="11">
                    <c:v>Dic*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0.0</c:formatCode>
                <c:ptCount val="12"/>
                <c:pt idx="0">
                  <c:v>16.53</c:v>
                </c:pt>
                <c:pt idx="1">
                  <c:v>16.48</c:v>
                </c:pt>
                <c:pt idx="2">
                  <c:v>16.16</c:v>
                </c:pt>
                <c:pt idx="3">
                  <c:v>17</c:v>
                </c:pt>
                <c:pt idx="4">
                  <c:v>15.09</c:v>
                </c:pt>
                <c:pt idx="5">
                  <c:v>16.08</c:v>
                </c:pt>
                <c:pt idx="6">
                  <c:v>17.9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Unidades 2025</c:v>
                </c:pt>
              </c:strCache>
            </c:strRef>
          </c:tx>
          <c:spPr>
            <a:solidFill>
              <a:srgbClr val="9CA3AF"/>
            </a:solidFill>
            <a:ln w="28575" cap="flat">
              <a:solidFill>
                <a:srgbClr val="9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Ago*</c:v>
                  </c:pt>
                  <c:pt idx="8">
                    <c:v>Sep*</c:v>
                  </c:pt>
                  <c:pt idx="9">
                    <c:v>Oct*</c:v>
                  </c:pt>
                  <c:pt idx="10">
                    <c:v>Nov*</c:v>
                  </c:pt>
                  <c:pt idx="11">
                    <c:v>Dic*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0.0</c:formatCode>
                <c:ptCount val="1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15.17</c:v>
                </c:pt>
                <c:pt idx="7">
                  <c:v>16.08</c:v>
                </c:pt>
                <c:pt idx="8">
                  <c:v>16.33</c:v>
                </c:pt>
                <c:pt idx="9">
                  <c:v>19.4</c:v>
                </c:pt>
                <c:pt idx="10">
                  <c:v>17.41</c:v>
                </c:pt>
                <c:pt idx="11">
                  <c:v>17.68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share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6B72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B7280"/>
                </a:solidFill>
                <a:latin typeface="Arial"/>
              </a:rPr>
              <a:t>Share unidades MAT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Drean</c:v>
                </c:pt>
              </c:strCache>
            </c:strRef>
          </c:tx>
          <c:spPr>
            <a:solidFill>
              <a:srgbClr val="0B2545"/>
            </a:solidFill>
            <a:ln w="22225" cap="flat">
              <a:solidFill>
                <a:srgbClr val="0B25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2545"/>
              </a:solidFill>
              <a:ln w="9525" cap="flat">
                <a:solidFill>
                  <a:srgbClr val="0B25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Ene 24</c:v>
                  </c:pt>
                  <c:pt idx="1">
                    <c:v>Feb 24</c:v>
                  </c:pt>
                  <c:pt idx="2">
                    <c:v>Mar 24</c:v>
                  </c:pt>
                  <c:pt idx="3">
                    <c:v>Abr 24</c:v>
                  </c:pt>
                  <c:pt idx="4">
                    <c:v>May 24</c:v>
                  </c:pt>
                  <c:pt idx="5">
                    <c:v>Jun 24</c:v>
                  </c:pt>
                  <c:pt idx="6">
                    <c:v>Jul 24</c:v>
                  </c:pt>
                  <c:pt idx="7">
                    <c:v>Ago 24</c:v>
                  </c:pt>
                  <c:pt idx="8">
                    <c:v>Sep 24</c:v>
                  </c:pt>
                  <c:pt idx="9">
                    <c:v>Oct 24</c:v>
                  </c:pt>
                  <c:pt idx="10">
                    <c:v>Nov 24</c:v>
                  </c:pt>
                  <c:pt idx="11">
                    <c:v>Dic 24</c:v>
                  </c:pt>
                  <c:pt idx="12">
                    <c:v>Ene 25</c:v>
                  </c:pt>
                  <c:pt idx="13">
                    <c:v>Feb 25</c:v>
                  </c:pt>
                  <c:pt idx="14">
                    <c:v>Mar 25</c:v>
                  </c:pt>
                  <c:pt idx="15">
                    <c:v>Abr 25</c:v>
                  </c:pt>
                  <c:pt idx="16">
                    <c:v>May 25</c:v>
                  </c:pt>
                  <c:pt idx="17">
                    <c:v>Jun 25</c:v>
                  </c:pt>
                  <c:pt idx="18">
                    <c:v>Jul 25</c:v>
                  </c:pt>
                  <c:pt idx="19">
                    <c:v>Ago 25</c:v>
                  </c:pt>
                  <c:pt idx="20">
                    <c:v>Sep 25</c:v>
                  </c:pt>
                  <c:pt idx="21">
                    <c:v>Oct 25</c:v>
                  </c:pt>
                  <c:pt idx="22">
                    <c:v>Nov 25</c:v>
                  </c:pt>
                  <c:pt idx="23">
                    <c:v>Dic 25</c:v>
                  </c:pt>
                  <c:pt idx="24">
                    <c:v>Ene 26</c:v>
                  </c:pt>
                  <c:pt idx="25">
                    <c:v>Feb 26</c:v>
                  </c:pt>
                  <c:pt idx="26">
                    <c:v>Mar 26</c:v>
                  </c:pt>
                  <c:pt idx="27">
                    <c:v>Abr 26</c:v>
                  </c:pt>
                  <c:pt idx="28">
                    <c:v>May 26</c:v>
                  </c:pt>
                  <c:pt idx="29">
                    <c:v>Jun 26</c:v>
                  </c:pt>
                  <c:pt idx="30">
                    <c:v>Jul 26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25.96</c:v>
                </c:pt>
                <c:pt idx="1">
                  <c:v>27.09</c:v>
                </c:pt>
                <c:pt idx="2">
                  <c:v>27.42</c:v>
                </c:pt>
                <c:pt idx="3">
                  <c:v>27.23</c:v>
                </c:pt>
                <c:pt idx="4">
                  <c:v>26.59</c:v>
                </c:pt>
                <c:pt idx="5">
                  <c:v>26.22</c:v>
                </c:pt>
                <c:pt idx="6">
                  <c:v>25.42</c:v>
                </c:pt>
                <c:pt idx="7">
                  <c:v>25.13</c:v>
                </c:pt>
                <c:pt idx="8">
                  <c:v>24.88</c:v>
                </c:pt>
                <c:pt idx="9">
                  <c:v>24.91</c:v>
                </c:pt>
                <c:pt idx="10">
                  <c:v>24.15</c:v>
                </c:pt>
                <c:pt idx="11">
                  <c:v>23.69</c:v>
                </c:pt>
                <c:pt idx="12">
                  <c:v>22.39</c:v>
                </c:pt>
                <c:pt idx="13">
                  <c:v>21.88</c:v>
                </c:pt>
                <c:pt idx="14">
                  <c:v>21.86</c:v>
                </c:pt>
                <c:pt idx="15">
                  <c:v>21.76</c:v>
                </c:pt>
                <c:pt idx="16">
                  <c:v>21.17</c:v>
                </c:pt>
                <c:pt idx="17">
                  <c:v>20.81</c:v>
                </c:pt>
                <c:pt idx="18">
                  <c:v>20.42</c:v>
                </c:pt>
                <c:pt idx="19">
                  <c:v>20.12</c:v>
                </c:pt>
                <c:pt idx="20">
                  <c:v>19.63</c:v>
                </c:pt>
                <c:pt idx="21">
                  <c:v>19.27</c:v>
                </c:pt>
                <c:pt idx="22">
                  <c:v>18.84</c:v>
                </c:pt>
                <c:pt idx="23">
                  <c:v>18.57</c:v>
                </c:pt>
                <c:pt idx="24">
                  <c:v>18.57</c:v>
                </c:pt>
                <c:pt idx="25">
                  <c:v>18.35</c:v>
                </c:pt>
                <c:pt idx="26">
                  <c:v>17.96</c:v>
                </c:pt>
                <c:pt idx="27">
                  <c:v>17.87</c:v>
                </c:pt>
                <c:pt idx="28">
                  <c:v>17.93</c:v>
                </c:pt>
                <c:pt idx="29">
                  <c:v>18.06</c:v>
                </c:pt>
                <c:pt idx="30">
                  <c:v>18.46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Gafa</c:v>
                </c:pt>
              </c:strCache>
            </c:strRef>
          </c:tx>
          <c:spPr>
            <a:solidFill>
              <a:srgbClr val="93C5FD"/>
            </a:solidFill>
            <a:ln w="22225" cap="flat">
              <a:solidFill>
                <a:srgbClr val="93C5F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3C5FD"/>
              </a:solidFill>
              <a:ln w="9525" cap="flat">
                <a:solidFill>
                  <a:srgbClr val="93C5F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Ene 24</c:v>
                  </c:pt>
                  <c:pt idx="1">
                    <c:v>Feb 24</c:v>
                  </c:pt>
                  <c:pt idx="2">
                    <c:v>Mar 24</c:v>
                  </c:pt>
                  <c:pt idx="3">
                    <c:v>Abr 24</c:v>
                  </c:pt>
                  <c:pt idx="4">
                    <c:v>May 24</c:v>
                  </c:pt>
                  <c:pt idx="5">
                    <c:v>Jun 24</c:v>
                  </c:pt>
                  <c:pt idx="6">
                    <c:v>Jul 24</c:v>
                  </c:pt>
                  <c:pt idx="7">
                    <c:v>Ago 24</c:v>
                  </c:pt>
                  <c:pt idx="8">
                    <c:v>Sep 24</c:v>
                  </c:pt>
                  <c:pt idx="9">
                    <c:v>Oct 24</c:v>
                  </c:pt>
                  <c:pt idx="10">
                    <c:v>Nov 24</c:v>
                  </c:pt>
                  <c:pt idx="11">
                    <c:v>Dic 24</c:v>
                  </c:pt>
                  <c:pt idx="12">
                    <c:v>Ene 25</c:v>
                  </c:pt>
                  <c:pt idx="13">
                    <c:v>Feb 25</c:v>
                  </c:pt>
                  <c:pt idx="14">
                    <c:v>Mar 25</c:v>
                  </c:pt>
                  <c:pt idx="15">
                    <c:v>Abr 25</c:v>
                  </c:pt>
                  <c:pt idx="16">
                    <c:v>May 25</c:v>
                  </c:pt>
                  <c:pt idx="17">
                    <c:v>Jun 25</c:v>
                  </c:pt>
                  <c:pt idx="18">
                    <c:v>Jul 25</c:v>
                  </c:pt>
                  <c:pt idx="19">
                    <c:v>Ago 25</c:v>
                  </c:pt>
                  <c:pt idx="20">
                    <c:v>Sep 25</c:v>
                  </c:pt>
                  <c:pt idx="21">
                    <c:v>Oct 25</c:v>
                  </c:pt>
                  <c:pt idx="22">
                    <c:v>Nov 25</c:v>
                  </c:pt>
                  <c:pt idx="23">
                    <c:v>Dic 25</c:v>
                  </c:pt>
                  <c:pt idx="24">
                    <c:v>Ene 26</c:v>
                  </c:pt>
                  <c:pt idx="25">
                    <c:v>Feb 26</c:v>
                  </c:pt>
                  <c:pt idx="26">
                    <c:v>Mar 26</c:v>
                  </c:pt>
                  <c:pt idx="27">
                    <c:v>Abr 26</c:v>
                  </c:pt>
                  <c:pt idx="28">
                    <c:v>May 26</c:v>
                  </c:pt>
                  <c:pt idx="29">
                    <c:v>Jun 26</c:v>
                  </c:pt>
                  <c:pt idx="30">
                    <c:v>Jul 26</c:v>
                  </c:pt>
                </c:lvl>
              </c:multiLvlStrCache>
            </c:multiLvl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22.54</c:v>
                </c:pt>
                <c:pt idx="1">
                  <c:v>22.25</c:v>
                </c:pt>
                <c:pt idx="2">
                  <c:v>22.36</c:v>
                </c:pt>
                <c:pt idx="3">
                  <c:v>22.47</c:v>
                </c:pt>
                <c:pt idx="4">
                  <c:v>22.21</c:v>
                </c:pt>
                <c:pt idx="5">
                  <c:v>22.02</c:v>
                </c:pt>
                <c:pt idx="6">
                  <c:v>22.28</c:v>
                </c:pt>
                <c:pt idx="7">
                  <c:v>22.73</c:v>
                </c:pt>
                <c:pt idx="8">
                  <c:v>22.17</c:v>
                </c:pt>
                <c:pt idx="9">
                  <c:v>20.04</c:v>
                </c:pt>
                <c:pt idx="10">
                  <c:v>18.2</c:v>
                </c:pt>
                <c:pt idx="11">
                  <c:v>17.54</c:v>
                </c:pt>
                <c:pt idx="12">
                  <c:v>16.87</c:v>
                </c:pt>
                <c:pt idx="13">
                  <c:v>16.51</c:v>
                </c:pt>
                <c:pt idx="14">
                  <c:v>16.27</c:v>
                </c:pt>
                <c:pt idx="15">
                  <c:v>16.11</c:v>
                </c:pt>
                <c:pt idx="16">
                  <c:v>15.66</c:v>
                </c:pt>
                <c:pt idx="17">
                  <c:v>15.3</c:v>
                </c:pt>
                <c:pt idx="18">
                  <c:v>14.4</c:v>
                </c:pt>
                <c:pt idx="19">
                  <c:v>13.72</c:v>
                </c:pt>
                <c:pt idx="20">
                  <c:v>13.24</c:v>
                </c:pt>
                <c:pt idx="21">
                  <c:v>13.2</c:v>
                </c:pt>
                <c:pt idx="22">
                  <c:v>13.33</c:v>
                </c:pt>
                <c:pt idx="23">
                  <c:v>13.39</c:v>
                </c:pt>
                <c:pt idx="24">
                  <c:v>13.91</c:v>
                </c:pt>
                <c:pt idx="25">
                  <c:v>14.33</c:v>
                </c:pt>
                <c:pt idx="26">
                  <c:v>14.42</c:v>
                </c:pt>
                <c:pt idx="27">
                  <c:v>14.47</c:v>
                </c:pt>
                <c:pt idx="28">
                  <c:v>14.53</c:v>
                </c:pt>
                <c:pt idx="29">
                  <c:v>14.63</c:v>
                </c:pt>
                <c:pt idx="30">
                  <c:v>14.79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Philco</c:v>
                </c:pt>
              </c:strCache>
            </c:strRef>
          </c:tx>
          <c:spPr>
            <a:solidFill>
              <a:srgbClr val="9CA3AF"/>
            </a:solidFill>
            <a:ln w="22225" cap="flat">
              <a:solidFill>
                <a:srgbClr val="9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Ene 24</c:v>
                  </c:pt>
                  <c:pt idx="1">
                    <c:v>Feb 24</c:v>
                  </c:pt>
                  <c:pt idx="2">
                    <c:v>Mar 24</c:v>
                  </c:pt>
                  <c:pt idx="3">
                    <c:v>Abr 24</c:v>
                  </c:pt>
                  <c:pt idx="4">
                    <c:v>May 24</c:v>
                  </c:pt>
                  <c:pt idx="5">
                    <c:v>Jun 24</c:v>
                  </c:pt>
                  <c:pt idx="6">
                    <c:v>Jul 24</c:v>
                  </c:pt>
                  <c:pt idx="7">
                    <c:v>Ago 24</c:v>
                  </c:pt>
                  <c:pt idx="8">
                    <c:v>Sep 24</c:v>
                  </c:pt>
                  <c:pt idx="9">
                    <c:v>Oct 24</c:v>
                  </c:pt>
                  <c:pt idx="10">
                    <c:v>Nov 24</c:v>
                  </c:pt>
                  <c:pt idx="11">
                    <c:v>Dic 24</c:v>
                  </c:pt>
                  <c:pt idx="12">
                    <c:v>Ene 25</c:v>
                  </c:pt>
                  <c:pt idx="13">
                    <c:v>Feb 25</c:v>
                  </c:pt>
                  <c:pt idx="14">
                    <c:v>Mar 25</c:v>
                  </c:pt>
                  <c:pt idx="15">
                    <c:v>Abr 25</c:v>
                  </c:pt>
                  <c:pt idx="16">
                    <c:v>May 25</c:v>
                  </c:pt>
                  <c:pt idx="17">
                    <c:v>Jun 25</c:v>
                  </c:pt>
                  <c:pt idx="18">
                    <c:v>Jul 25</c:v>
                  </c:pt>
                  <c:pt idx="19">
                    <c:v>Ago 25</c:v>
                  </c:pt>
                  <c:pt idx="20">
                    <c:v>Sep 25</c:v>
                  </c:pt>
                  <c:pt idx="21">
                    <c:v>Oct 25</c:v>
                  </c:pt>
                  <c:pt idx="22">
                    <c:v>Nov 25</c:v>
                  </c:pt>
                  <c:pt idx="23">
                    <c:v>Dic 25</c:v>
                  </c:pt>
                  <c:pt idx="24">
                    <c:v>Ene 26</c:v>
                  </c:pt>
                  <c:pt idx="25">
                    <c:v>Feb 26</c:v>
                  </c:pt>
                  <c:pt idx="26">
                    <c:v>Mar 26</c:v>
                  </c:pt>
                  <c:pt idx="27">
                    <c:v>Abr 26</c:v>
                  </c:pt>
                  <c:pt idx="28">
                    <c:v>May 26</c:v>
                  </c:pt>
                  <c:pt idx="29">
                    <c:v>Jun 26</c:v>
                  </c:pt>
                  <c:pt idx="30">
                    <c:v>Jul 26</c:v>
                  </c:pt>
                </c:lvl>
              </c:multiLvlStrCache>
            </c:multiLvlStr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3.89</c:v>
                </c:pt>
                <c:pt idx="1">
                  <c:v>3.44</c:v>
                </c:pt>
                <c:pt idx="2">
                  <c:v>3.1</c:v>
                </c:pt>
                <c:pt idx="3">
                  <c:v>2.97</c:v>
                </c:pt>
                <c:pt idx="4">
                  <c:v>3.07</c:v>
                </c:pt>
                <c:pt idx="5">
                  <c:v>3.12</c:v>
                </c:pt>
                <c:pt idx="6">
                  <c:v>3.19</c:v>
                </c:pt>
                <c:pt idx="7">
                  <c:v>3.19</c:v>
                </c:pt>
                <c:pt idx="8">
                  <c:v>3.17</c:v>
                </c:pt>
                <c:pt idx="9">
                  <c:v>3.37</c:v>
                </c:pt>
                <c:pt idx="10">
                  <c:v>3.55</c:v>
                </c:pt>
                <c:pt idx="11">
                  <c:v>3.89</c:v>
                </c:pt>
                <c:pt idx="12">
                  <c:v>4.62</c:v>
                </c:pt>
                <c:pt idx="13">
                  <c:v>5.11</c:v>
                </c:pt>
                <c:pt idx="14">
                  <c:v>5.55</c:v>
                </c:pt>
                <c:pt idx="15">
                  <c:v>5.97</c:v>
                </c:pt>
                <c:pt idx="16">
                  <c:v>7.29</c:v>
                </c:pt>
                <c:pt idx="17">
                  <c:v>7.86</c:v>
                </c:pt>
                <c:pt idx="18">
                  <c:v>8.96</c:v>
                </c:pt>
                <c:pt idx="19">
                  <c:v>9.95</c:v>
                </c:pt>
                <c:pt idx="20">
                  <c:v>11.03</c:v>
                </c:pt>
                <c:pt idx="21">
                  <c:v>12</c:v>
                </c:pt>
                <c:pt idx="22">
                  <c:v>12.92</c:v>
                </c:pt>
                <c:pt idx="23">
                  <c:v>13.49</c:v>
                </c:pt>
                <c:pt idx="24">
                  <c:v>13.49</c:v>
                </c:pt>
                <c:pt idx="25">
                  <c:v>13.63</c:v>
                </c:pt>
                <c:pt idx="26">
                  <c:v>13.72</c:v>
                </c:pt>
                <c:pt idx="27">
                  <c:v>13.6</c:v>
                </c:pt>
                <c:pt idx="28">
                  <c:v>12.73</c:v>
                </c:pt>
                <c:pt idx="29">
                  <c:v>12.31</c:v>
                </c:pt>
                <c:pt idx="30">
                  <c:v>11.47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Samsung</c:v>
                </c:pt>
              </c:strCache>
            </c:strRef>
          </c:tx>
          <c:spPr>
            <a:solidFill>
              <a:srgbClr val="0D9488"/>
            </a:solidFill>
            <a:ln w="22225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Ene 24</c:v>
                  </c:pt>
                  <c:pt idx="1">
                    <c:v>Feb 24</c:v>
                  </c:pt>
                  <c:pt idx="2">
                    <c:v>Mar 24</c:v>
                  </c:pt>
                  <c:pt idx="3">
                    <c:v>Abr 24</c:v>
                  </c:pt>
                  <c:pt idx="4">
                    <c:v>May 24</c:v>
                  </c:pt>
                  <c:pt idx="5">
                    <c:v>Jun 24</c:v>
                  </c:pt>
                  <c:pt idx="6">
                    <c:v>Jul 24</c:v>
                  </c:pt>
                  <c:pt idx="7">
                    <c:v>Ago 24</c:v>
                  </c:pt>
                  <c:pt idx="8">
                    <c:v>Sep 24</c:v>
                  </c:pt>
                  <c:pt idx="9">
                    <c:v>Oct 24</c:v>
                  </c:pt>
                  <c:pt idx="10">
                    <c:v>Nov 24</c:v>
                  </c:pt>
                  <c:pt idx="11">
                    <c:v>Dic 24</c:v>
                  </c:pt>
                  <c:pt idx="12">
                    <c:v>Ene 25</c:v>
                  </c:pt>
                  <c:pt idx="13">
                    <c:v>Feb 25</c:v>
                  </c:pt>
                  <c:pt idx="14">
                    <c:v>Mar 25</c:v>
                  </c:pt>
                  <c:pt idx="15">
                    <c:v>Abr 25</c:v>
                  </c:pt>
                  <c:pt idx="16">
                    <c:v>May 25</c:v>
                  </c:pt>
                  <c:pt idx="17">
                    <c:v>Jun 25</c:v>
                  </c:pt>
                  <c:pt idx="18">
                    <c:v>Jul 25</c:v>
                  </c:pt>
                  <c:pt idx="19">
                    <c:v>Ago 25</c:v>
                  </c:pt>
                  <c:pt idx="20">
                    <c:v>Sep 25</c:v>
                  </c:pt>
                  <c:pt idx="21">
                    <c:v>Oct 25</c:v>
                  </c:pt>
                  <c:pt idx="22">
                    <c:v>Nov 25</c:v>
                  </c:pt>
                  <c:pt idx="23">
                    <c:v>Dic 25</c:v>
                  </c:pt>
                  <c:pt idx="24">
                    <c:v>Ene 26</c:v>
                  </c:pt>
                  <c:pt idx="25">
                    <c:v>Feb 26</c:v>
                  </c:pt>
                  <c:pt idx="26">
                    <c:v>Mar 26</c:v>
                  </c:pt>
                  <c:pt idx="27">
                    <c:v>Abr 26</c:v>
                  </c:pt>
                  <c:pt idx="28">
                    <c:v>May 26</c:v>
                  </c:pt>
                  <c:pt idx="29">
                    <c:v>Jun 26</c:v>
                  </c:pt>
                  <c:pt idx="30">
                    <c:v>Jul 26</c:v>
                  </c:pt>
                </c:lvl>
              </c:multiLvlStrCache>
            </c:multiLvlStrRef>
          </c:cat>
          <c:val>
            <c:numRef>
              <c:f>Sheet1!$E$2:$E$32</c:f>
              <c:numCache>
                <c:formatCode>General</c:formatCode>
                <c:ptCount val="31"/>
                <c:pt idx="0">
                  <c:v>16.19</c:v>
                </c:pt>
                <c:pt idx="1">
                  <c:v>16.39</c:v>
                </c:pt>
                <c:pt idx="2">
                  <c:v>16.63</c:v>
                </c:pt>
                <c:pt idx="3">
                  <c:v>16.6</c:v>
                </c:pt>
                <c:pt idx="4">
                  <c:v>16.95</c:v>
                </c:pt>
                <c:pt idx="5">
                  <c:v>17.03</c:v>
                </c:pt>
                <c:pt idx="6">
                  <c:v>16.83</c:v>
                </c:pt>
                <c:pt idx="7">
                  <c:v>16.55</c:v>
                </c:pt>
                <c:pt idx="8">
                  <c:v>16.37</c:v>
                </c:pt>
                <c:pt idx="9">
                  <c:v>15.94</c:v>
                </c:pt>
                <c:pt idx="10">
                  <c:v>16.6</c:v>
                </c:pt>
                <c:pt idx="11">
                  <c:v>16.65</c:v>
                </c:pt>
                <c:pt idx="12">
                  <c:v>16.18</c:v>
                </c:pt>
                <c:pt idx="13">
                  <c:v>15.7</c:v>
                </c:pt>
                <c:pt idx="14">
                  <c:v>15.37</c:v>
                </c:pt>
                <c:pt idx="15">
                  <c:v>15.2</c:v>
                </c:pt>
                <c:pt idx="16">
                  <c:v>14.68</c:v>
                </c:pt>
                <c:pt idx="17">
                  <c:v>14.33</c:v>
                </c:pt>
                <c:pt idx="18">
                  <c:v>13.96</c:v>
                </c:pt>
                <c:pt idx="19">
                  <c:v>13.68</c:v>
                </c:pt>
                <c:pt idx="20">
                  <c:v>13.44</c:v>
                </c:pt>
                <c:pt idx="21">
                  <c:v>12.95</c:v>
                </c:pt>
                <c:pt idx="22">
                  <c:v>12.42</c:v>
                </c:pt>
                <c:pt idx="23">
                  <c:v>12.04</c:v>
                </c:pt>
                <c:pt idx="24">
                  <c:v>11.56</c:v>
                </c:pt>
                <c:pt idx="25">
                  <c:v>11.28</c:v>
                </c:pt>
                <c:pt idx="26">
                  <c:v>10.84</c:v>
                </c:pt>
                <c:pt idx="27">
                  <c:v>10.53</c:v>
                </c:pt>
                <c:pt idx="28">
                  <c:v>10.16</c:v>
                </c:pt>
                <c:pt idx="29">
                  <c:v>9.95</c:v>
                </c:pt>
                <c:pt idx="30">
                  <c:v>9.67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2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Unidades 2026</c:v>
                </c:pt>
              </c:strCache>
            </c:strRef>
          </c:tx>
          <c:spPr>
            <a:solidFill>
              <a:srgbClr val="0B2545"/>
            </a:solidFill>
            <a:ln w="28575" cap="flat">
              <a:solidFill>
                <a:srgbClr val="0B25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B2545"/>
              </a:solidFill>
              <a:ln w="9525" cap="flat">
                <a:solidFill>
                  <a:srgbClr val="0B25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Ago*</c:v>
                  </c:pt>
                  <c:pt idx="8">
                    <c:v>Sep*</c:v>
                  </c:pt>
                  <c:pt idx="9">
                    <c:v>Oct*</c:v>
                  </c:pt>
                  <c:pt idx="10">
                    <c:v>Nov*</c:v>
                  </c:pt>
                  <c:pt idx="11">
                    <c:v>Dic*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0.0</c:formatCode>
                <c:ptCount val="12"/>
                <c:pt idx="0">
                  <c:v>9.24</c:v>
                </c:pt>
                <c:pt idx="1">
                  <c:v>8.89</c:v>
                </c:pt>
                <c:pt idx="2">
                  <c:v>9.54</c:v>
                </c:pt>
                <c:pt idx="3">
                  <c:v>10.24</c:v>
                </c:pt>
                <c:pt idx="4">
                  <c:v>10.94</c:v>
                </c:pt>
                <c:pt idx="5">
                  <c:v>11.03</c:v>
                </c:pt>
                <c:pt idx="6">
                  <c:v>11.65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Valor 2026</c:v>
                </c:pt>
              </c:strCache>
            </c:strRef>
          </c:tx>
          <c:spPr>
            <a:solidFill>
              <a:srgbClr val="1D4ED8"/>
            </a:solidFill>
            <a:ln w="28575" cap="flat">
              <a:solidFill>
                <a:srgbClr val="1D4E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D4ED8"/>
              </a:solidFill>
              <a:ln w="9525" cap="flat">
                <a:solidFill>
                  <a:srgbClr val="1D4E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Ago*</c:v>
                  </c:pt>
                  <c:pt idx="8">
                    <c:v>Sep*</c:v>
                  </c:pt>
                  <c:pt idx="9">
                    <c:v>Oct*</c:v>
                  </c:pt>
                  <c:pt idx="10">
                    <c:v>Nov*</c:v>
                  </c:pt>
                  <c:pt idx="11">
                    <c:v>Dic*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0.0</c:formatCode>
                <c:ptCount val="12"/>
                <c:pt idx="0">
                  <c:v>11.71</c:v>
                </c:pt>
                <c:pt idx="1">
                  <c:v>11.62</c:v>
                </c:pt>
                <c:pt idx="2">
                  <c:v>12.01</c:v>
                </c:pt>
                <c:pt idx="3">
                  <c:v>12.63</c:v>
                </c:pt>
                <c:pt idx="4">
                  <c:v>13.14</c:v>
                </c:pt>
                <c:pt idx="5">
                  <c:v>14.06</c:v>
                </c:pt>
                <c:pt idx="6">
                  <c:v>15.8</c:v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Unidades 2025</c:v>
                </c:pt>
              </c:strCache>
            </c:strRef>
          </c:tx>
          <c:spPr>
            <a:solidFill>
              <a:srgbClr val="9CA3AF"/>
            </a:solidFill>
            <a:ln w="28575" cap="flat">
              <a:solidFill>
                <a:srgbClr val="9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Ago*</c:v>
                  </c:pt>
                  <c:pt idx="8">
                    <c:v>Sep*</c:v>
                  </c:pt>
                  <c:pt idx="9">
                    <c:v>Oct*</c:v>
                  </c:pt>
                  <c:pt idx="10">
                    <c:v>Nov*</c:v>
                  </c:pt>
                  <c:pt idx="11">
                    <c:v>Dic*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0.0</c:formatCode>
                <c:ptCount val="1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7.47</c:v>
                </c:pt>
                <c:pt idx="7">
                  <c:v>8.26</c:v>
                </c:pt>
                <c:pt idx="8">
                  <c:v>8.61</c:v>
                </c:pt>
                <c:pt idx="9">
                  <c:v>10.21</c:v>
                </c:pt>
                <c:pt idx="10">
                  <c:v>10.38</c:v>
                </c:pt>
                <c:pt idx="11">
                  <c:v>8.22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280"/>
                    </a:solidFill>
                    <a:latin typeface="Arial"/>
                  </a:rPr>
                  <a:t>share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6B72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6B7280"/>
                </a:solidFill>
                <a:latin typeface="Arial"/>
              </a:rPr>
              <a:t>Share unidades MAT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Escorial</c:v>
                </c:pt>
              </c:strCache>
            </c:strRef>
          </c:tx>
          <c:spPr>
            <a:solidFill>
              <a:srgbClr val="EA580C"/>
            </a:solidFill>
            <a:ln w="22225" cap="flat">
              <a:solidFill>
                <a:srgbClr val="EA58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A580C"/>
              </a:solidFill>
              <a:ln w="9525" cap="flat">
                <a:solidFill>
                  <a:srgbClr val="EA58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Ene 24</c:v>
                  </c:pt>
                  <c:pt idx="1">
                    <c:v>Feb 24</c:v>
                  </c:pt>
                  <c:pt idx="2">
                    <c:v>Mar 24</c:v>
                  </c:pt>
                  <c:pt idx="3">
                    <c:v>Abr 24</c:v>
                  </c:pt>
                  <c:pt idx="4">
                    <c:v>May 24</c:v>
                  </c:pt>
                  <c:pt idx="5">
                    <c:v>Jun 24</c:v>
                  </c:pt>
                  <c:pt idx="6">
                    <c:v>Jul 24</c:v>
                  </c:pt>
                  <c:pt idx="7">
                    <c:v>Ago 24</c:v>
                  </c:pt>
                  <c:pt idx="8">
                    <c:v>Sep 24</c:v>
                  </c:pt>
                  <c:pt idx="9">
                    <c:v>Oct 24</c:v>
                  </c:pt>
                  <c:pt idx="10">
                    <c:v>Nov 24</c:v>
                  </c:pt>
                  <c:pt idx="11">
                    <c:v>Dic 24</c:v>
                  </c:pt>
                  <c:pt idx="12">
                    <c:v>Ene 25</c:v>
                  </c:pt>
                  <c:pt idx="13">
                    <c:v>Feb 25</c:v>
                  </c:pt>
                  <c:pt idx="14">
                    <c:v>Mar 25</c:v>
                  </c:pt>
                  <c:pt idx="15">
                    <c:v>Abr 25</c:v>
                  </c:pt>
                  <c:pt idx="16">
                    <c:v>May 25</c:v>
                  </c:pt>
                  <c:pt idx="17">
                    <c:v>Jun 25</c:v>
                  </c:pt>
                  <c:pt idx="18">
                    <c:v>Jul 25</c:v>
                  </c:pt>
                  <c:pt idx="19">
                    <c:v>Ago 25</c:v>
                  </c:pt>
                  <c:pt idx="20">
                    <c:v>Sep 25</c:v>
                  </c:pt>
                  <c:pt idx="21">
                    <c:v>Oct 25</c:v>
                  </c:pt>
                  <c:pt idx="22">
                    <c:v>Nov 25</c:v>
                  </c:pt>
                  <c:pt idx="23">
                    <c:v>Dic 25</c:v>
                  </c:pt>
                  <c:pt idx="24">
                    <c:v>Ene 26</c:v>
                  </c:pt>
                  <c:pt idx="25">
                    <c:v>Feb 26</c:v>
                  </c:pt>
                  <c:pt idx="26">
                    <c:v>Mar 26</c:v>
                  </c:pt>
                  <c:pt idx="27">
                    <c:v>Abr 26</c:v>
                  </c:pt>
                  <c:pt idx="28">
                    <c:v>May 26</c:v>
                  </c:pt>
                  <c:pt idx="29">
                    <c:v>Jun 26</c:v>
                  </c:pt>
                  <c:pt idx="30">
                    <c:v>Jul 26</c:v>
                  </c:pt>
                </c:lvl>
              </c:multiLvlStrCache>
            </c:multiLvlStrRef>
          </c:cat>
          <c:val>
            <c:numRef>
              <c:f>Sheet1!$B$2:$B$32</c:f>
              <c:numCache>
                <c:formatCode>General</c:formatCode>
                <c:ptCount val="31"/>
                <c:pt idx="0">
                  <c:v>40.6</c:v>
                </c:pt>
                <c:pt idx="1">
                  <c:v>40.96</c:v>
                </c:pt>
                <c:pt idx="2">
                  <c:v>41.55</c:v>
                </c:pt>
                <c:pt idx="3">
                  <c:v>42.39</c:v>
                </c:pt>
                <c:pt idx="4">
                  <c:v>43.33</c:v>
                </c:pt>
                <c:pt idx="5">
                  <c:v>43.46</c:v>
                </c:pt>
                <c:pt idx="6">
                  <c:v>44.7</c:v>
                </c:pt>
                <c:pt idx="7">
                  <c:v>45.27</c:v>
                </c:pt>
                <c:pt idx="8">
                  <c:v>45.31</c:v>
                </c:pt>
                <c:pt idx="9">
                  <c:v>45.29</c:v>
                </c:pt>
                <c:pt idx="10">
                  <c:v>44.48</c:v>
                </c:pt>
                <c:pt idx="11">
                  <c:v>43.92</c:v>
                </c:pt>
                <c:pt idx="12">
                  <c:v>43.28</c:v>
                </c:pt>
                <c:pt idx="13">
                  <c:v>42.67</c:v>
                </c:pt>
                <c:pt idx="14">
                  <c:v>41.89</c:v>
                </c:pt>
                <c:pt idx="15">
                  <c:v>41.25</c:v>
                </c:pt>
                <c:pt idx="16">
                  <c:v>40.39</c:v>
                </c:pt>
                <c:pt idx="17">
                  <c:v>40.1</c:v>
                </c:pt>
                <c:pt idx="18">
                  <c:v>38.94</c:v>
                </c:pt>
                <c:pt idx="19">
                  <c:v>38.25</c:v>
                </c:pt>
                <c:pt idx="20">
                  <c:v>37.74</c:v>
                </c:pt>
                <c:pt idx="21">
                  <c:v>36.96</c:v>
                </c:pt>
                <c:pt idx="22">
                  <c:v>36.21</c:v>
                </c:pt>
                <c:pt idx="23">
                  <c:v>35.81</c:v>
                </c:pt>
                <c:pt idx="24">
                  <c:v>35.33</c:v>
                </c:pt>
                <c:pt idx="25">
                  <c:v>35.01</c:v>
                </c:pt>
                <c:pt idx="26">
                  <c:v>34.4</c:v>
                </c:pt>
                <c:pt idx="27">
                  <c:v>33.83</c:v>
                </c:pt>
                <c:pt idx="28">
                  <c:v>32.47</c:v>
                </c:pt>
                <c:pt idx="29">
                  <c:v>31.84</c:v>
                </c:pt>
                <c:pt idx="30">
                  <c:v>31.33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Florencia</c:v>
                </c:pt>
              </c:strCache>
            </c:strRef>
          </c:tx>
          <c:spPr>
            <a:solidFill>
              <a:srgbClr val="93C5FD"/>
            </a:solidFill>
            <a:ln w="22225" cap="flat">
              <a:solidFill>
                <a:srgbClr val="93C5F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3C5FD"/>
              </a:solidFill>
              <a:ln w="9525" cap="flat">
                <a:solidFill>
                  <a:srgbClr val="93C5F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Ene 24</c:v>
                  </c:pt>
                  <c:pt idx="1">
                    <c:v>Feb 24</c:v>
                  </c:pt>
                  <c:pt idx="2">
                    <c:v>Mar 24</c:v>
                  </c:pt>
                  <c:pt idx="3">
                    <c:v>Abr 24</c:v>
                  </c:pt>
                  <c:pt idx="4">
                    <c:v>May 24</c:v>
                  </c:pt>
                  <c:pt idx="5">
                    <c:v>Jun 24</c:v>
                  </c:pt>
                  <c:pt idx="6">
                    <c:v>Jul 24</c:v>
                  </c:pt>
                  <c:pt idx="7">
                    <c:v>Ago 24</c:v>
                  </c:pt>
                  <c:pt idx="8">
                    <c:v>Sep 24</c:v>
                  </c:pt>
                  <c:pt idx="9">
                    <c:v>Oct 24</c:v>
                  </c:pt>
                  <c:pt idx="10">
                    <c:v>Nov 24</c:v>
                  </c:pt>
                  <c:pt idx="11">
                    <c:v>Dic 24</c:v>
                  </c:pt>
                  <c:pt idx="12">
                    <c:v>Ene 25</c:v>
                  </c:pt>
                  <c:pt idx="13">
                    <c:v>Feb 25</c:v>
                  </c:pt>
                  <c:pt idx="14">
                    <c:v>Mar 25</c:v>
                  </c:pt>
                  <c:pt idx="15">
                    <c:v>Abr 25</c:v>
                  </c:pt>
                  <c:pt idx="16">
                    <c:v>May 25</c:v>
                  </c:pt>
                  <c:pt idx="17">
                    <c:v>Jun 25</c:v>
                  </c:pt>
                  <c:pt idx="18">
                    <c:v>Jul 25</c:v>
                  </c:pt>
                  <c:pt idx="19">
                    <c:v>Ago 25</c:v>
                  </c:pt>
                  <c:pt idx="20">
                    <c:v>Sep 25</c:v>
                  </c:pt>
                  <c:pt idx="21">
                    <c:v>Oct 25</c:v>
                  </c:pt>
                  <c:pt idx="22">
                    <c:v>Nov 25</c:v>
                  </c:pt>
                  <c:pt idx="23">
                    <c:v>Dic 25</c:v>
                  </c:pt>
                  <c:pt idx="24">
                    <c:v>Ene 26</c:v>
                  </c:pt>
                  <c:pt idx="25">
                    <c:v>Feb 26</c:v>
                  </c:pt>
                  <c:pt idx="26">
                    <c:v>Mar 26</c:v>
                  </c:pt>
                  <c:pt idx="27">
                    <c:v>Abr 26</c:v>
                  </c:pt>
                  <c:pt idx="28">
                    <c:v>May 26</c:v>
                  </c:pt>
                  <c:pt idx="29">
                    <c:v>Jun 26</c:v>
                  </c:pt>
                  <c:pt idx="30">
                    <c:v>Jul 26</c:v>
                  </c:pt>
                </c:lvl>
              </c:multiLvlStrCache>
            </c:multiLvlStrRef>
          </c:cat>
          <c:val>
            <c:numRef>
              <c:f>Sheet1!$C$2:$C$32</c:f>
              <c:numCache>
                <c:formatCode>General</c:formatCode>
                <c:ptCount val="31"/>
                <c:pt idx="0">
                  <c:v>15.27</c:v>
                </c:pt>
                <c:pt idx="1">
                  <c:v>15.3</c:v>
                </c:pt>
                <c:pt idx="2">
                  <c:v>15.3</c:v>
                </c:pt>
                <c:pt idx="3">
                  <c:v>15.2</c:v>
                </c:pt>
                <c:pt idx="4">
                  <c:v>15.13</c:v>
                </c:pt>
                <c:pt idx="5">
                  <c:v>14.93</c:v>
                </c:pt>
                <c:pt idx="6">
                  <c:v>14.72</c:v>
                </c:pt>
                <c:pt idx="7">
                  <c:v>14.88</c:v>
                </c:pt>
                <c:pt idx="8">
                  <c:v>14.88</c:v>
                </c:pt>
                <c:pt idx="9">
                  <c:v>14.51</c:v>
                </c:pt>
                <c:pt idx="10">
                  <c:v>14.68</c:v>
                </c:pt>
                <c:pt idx="11">
                  <c:v>15.24</c:v>
                </c:pt>
                <c:pt idx="12">
                  <c:v>15.55</c:v>
                </c:pt>
                <c:pt idx="13">
                  <c:v>15.64</c:v>
                </c:pt>
                <c:pt idx="14">
                  <c:v>15.76</c:v>
                </c:pt>
                <c:pt idx="15">
                  <c:v>15.79</c:v>
                </c:pt>
                <c:pt idx="16">
                  <c:v>15.94</c:v>
                </c:pt>
                <c:pt idx="17">
                  <c:v>16.13</c:v>
                </c:pt>
                <c:pt idx="18">
                  <c:v>16.04</c:v>
                </c:pt>
                <c:pt idx="19">
                  <c:v>15.87</c:v>
                </c:pt>
                <c:pt idx="20">
                  <c:v>15.71</c:v>
                </c:pt>
                <c:pt idx="21">
                  <c:v>15.67</c:v>
                </c:pt>
                <c:pt idx="22">
                  <c:v>15.25</c:v>
                </c:pt>
                <c:pt idx="23">
                  <c:v>14.92</c:v>
                </c:pt>
                <c:pt idx="24">
                  <c:v>14.83</c:v>
                </c:pt>
                <c:pt idx="25">
                  <c:v>15</c:v>
                </c:pt>
                <c:pt idx="26">
                  <c:v>15.18</c:v>
                </c:pt>
                <c:pt idx="27">
                  <c:v>15.4</c:v>
                </c:pt>
                <c:pt idx="28">
                  <c:v>15.41</c:v>
                </c:pt>
                <c:pt idx="29">
                  <c:v>15.38</c:v>
                </c:pt>
                <c:pt idx="30">
                  <c:v>15.58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Drean</c:v>
                </c:pt>
              </c:strCache>
            </c:strRef>
          </c:tx>
          <c:spPr>
            <a:solidFill>
              <a:srgbClr val="0B2545"/>
            </a:solidFill>
            <a:ln w="22225" cap="flat">
              <a:solidFill>
                <a:srgbClr val="0B25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B2545"/>
              </a:solidFill>
              <a:ln w="9525" cap="flat">
                <a:solidFill>
                  <a:srgbClr val="0B25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Ene 24</c:v>
                  </c:pt>
                  <c:pt idx="1">
                    <c:v>Feb 24</c:v>
                  </c:pt>
                  <c:pt idx="2">
                    <c:v>Mar 24</c:v>
                  </c:pt>
                  <c:pt idx="3">
                    <c:v>Abr 24</c:v>
                  </c:pt>
                  <c:pt idx="4">
                    <c:v>May 24</c:v>
                  </c:pt>
                  <c:pt idx="5">
                    <c:v>Jun 24</c:v>
                  </c:pt>
                  <c:pt idx="6">
                    <c:v>Jul 24</c:v>
                  </c:pt>
                  <c:pt idx="7">
                    <c:v>Ago 24</c:v>
                  </c:pt>
                  <c:pt idx="8">
                    <c:v>Sep 24</c:v>
                  </c:pt>
                  <c:pt idx="9">
                    <c:v>Oct 24</c:v>
                  </c:pt>
                  <c:pt idx="10">
                    <c:v>Nov 24</c:v>
                  </c:pt>
                  <c:pt idx="11">
                    <c:v>Dic 24</c:v>
                  </c:pt>
                  <c:pt idx="12">
                    <c:v>Ene 25</c:v>
                  </c:pt>
                  <c:pt idx="13">
                    <c:v>Feb 25</c:v>
                  </c:pt>
                  <c:pt idx="14">
                    <c:v>Mar 25</c:v>
                  </c:pt>
                  <c:pt idx="15">
                    <c:v>Abr 25</c:v>
                  </c:pt>
                  <c:pt idx="16">
                    <c:v>May 25</c:v>
                  </c:pt>
                  <c:pt idx="17">
                    <c:v>Jun 25</c:v>
                  </c:pt>
                  <c:pt idx="18">
                    <c:v>Jul 25</c:v>
                  </c:pt>
                  <c:pt idx="19">
                    <c:v>Ago 25</c:v>
                  </c:pt>
                  <c:pt idx="20">
                    <c:v>Sep 25</c:v>
                  </c:pt>
                  <c:pt idx="21">
                    <c:v>Oct 25</c:v>
                  </c:pt>
                  <c:pt idx="22">
                    <c:v>Nov 25</c:v>
                  </c:pt>
                  <c:pt idx="23">
                    <c:v>Dic 25</c:v>
                  </c:pt>
                  <c:pt idx="24">
                    <c:v>Ene 26</c:v>
                  </c:pt>
                  <c:pt idx="25">
                    <c:v>Feb 26</c:v>
                  </c:pt>
                  <c:pt idx="26">
                    <c:v>Mar 26</c:v>
                  </c:pt>
                  <c:pt idx="27">
                    <c:v>Abr 26</c:v>
                  </c:pt>
                  <c:pt idx="28">
                    <c:v>May 26</c:v>
                  </c:pt>
                  <c:pt idx="29">
                    <c:v>Jun 26</c:v>
                  </c:pt>
                  <c:pt idx="30">
                    <c:v>Jul 26</c:v>
                  </c:pt>
                </c:lvl>
              </c:multiLvlStrCache>
            </c:multiLvlStrRef>
          </c:cat>
          <c:val>
            <c:numRef>
              <c:f>Sheet1!$D$2:$D$32</c:f>
              <c:numCache>
                <c:formatCode>General</c:formatCode>
                <c:ptCount val="31"/>
                <c:pt idx="0">
                  <c:v>3.2</c:v>
                </c:pt>
                <c:pt idx="1">
                  <c:v>3.29</c:v>
                </c:pt>
                <c:pt idx="2">
                  <c:v>3.38</c:v>
                </c:pt>
                <c:pt idx="3">
                  <c:v>3.43</c:v>
                </c:pt>
                <c:pt idx="4">
                  <c:v>3.28</c:v>
                </c:pt>
                <c:pt idx="5">
                  <c:v>3.11</c:v>
                </c:pt>
                <c:pt idx="6">
                  <c:v>2.75</c:v>
                </c:pt>
                <c:pt idx="7">
                  <c:v>2.47</c:v>
                </c:pt>
                <c:pt idx="8">
                  <c:v>2.19</c:v>
                </c:pt>
                <c:pt idx="9">
                  <c:v>1.85</c:v>
                </c:pt>
                <c:pt idx="10">
                  <c:v>1.67</c:v>
                </c:pt>
                <c:pt idx="11">
                  <c:v>1.64</c:v>
                </c:pt>
                <c:pt idx="12">
                  <c:v>1.68</c:v>
                </c:pt>
                <c:pt idx="13">
                  <c:v>1.73</c:v>
                </c:pt>
                <c:pt idx="14">
                  <c:v>1.77</c:v>
                </c:pt>
                <c:pt idx="15">
                  <c:v>1.85</c:v>
                </c:pt>
                <c:pt idx="16">
                  <c:v>2.04</c:v>
                </c:pt>
                <c:pt idx="17">
                  <c:v>2.35</c:v>
                </c:pt>
                <c:pt idx="18">
                  <c:v>3.02</c:v>
                </c:pt>
                <c:pt idx="19">
                  <c:v>3.51</c:v>
                </c:pt>
                <c:pt idx="20">
                  <c:v>4.03</c:v>
                </c:pt>
                <c:pt idx="21">
                  <c:v>4.81</c:v>
                </c:pt>
                <c:pt idx="22">
                  <c:v>5.58</c:v>
                </c:pt>
                <c:pt idx="23">
                  <c:v>6.02</c:v>
                </c:pt>
                <c:pt idx="24">
                  <c:v>6.57</c:v>
                </c:pt>
                <c:pt idx="25">
                  <c:v>6.99</c:v>
                </c:pt>
                <c:pt idx="26">
                  <c:v>7.56</c:v>
                </c:pt>
                <c:pt idx="27">
                  <c:v>8.12</c:v>
                </c:pt>
                <c:pt idx="28">
                  <c:v>9</c:v>
                </c:pt>
                <c:pt idx="29">
                  <c:v>9.45</c:v>
                </c:pt>
                <c:pt idx="30">
                  <c:v>9.93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Longvie</c:v>
                </c:pt>
              </c:strCache>
            </c:strRef>
          </c:tx>
          <c:spPr>
            <a:solidFill>
              <a:srgbClr val="0D9488"/>
            </a:solidFill>
            <a:ln w="22225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Sheet1!$A$2:$A$32</c:f>
              <c:multiLvlStrCache>
                <c:ptCount val="31"/>
                <c:lvl>
                  <c:pt idx="0">
                    <c:v>Ene 24</c:v>
                  </c:pt>
                  <c:pt idx="1">
                    <c:v>Feb 24</c:v>
                  </c:pt>
                  <c:pt idx="2">
                    <c:v>Mar 24</c:v>
                  </c:pt>
                  <c:pt idx="3">
                    <c:v>Abr 24</c:v>
                  </c:pt>
                  <c:pt idx="4">
                    <c:v>May 24</c:v>
                  </c:pt>
                  <c:pt idx="5">
                    <c:v>Jun 24</c:v>
                  </c:pt>
                  <c:pt idx="6">
                    <c:v>Jul 24</c:v>
                  </c:pt>
                  <c:pt idx="7">
                    <c:v>Ago 24</c:v>
                  </c:pt>
                  <c:pt idx="8">
                    <c:v>Sep 24</c:v>
                  </c:pt>
                  <c:pt idx="9">
                    <c:v>Oct 24</c:v>
                  </c:pt>
                  <c:pt idx="10">
                    <c:v>Nov 24</c:v>
                  </c:pt>
                  <c:pt idx="11">
                    <c:v>Dic 24</c:v>
                  </c:pt>
                  <c:pt idx="12">
                    <c:v>Ene 25</c:v>
                  </c:pt>
                  <c:pt idx="13">
                    <c:v>Feb 25</c:v>
                  </c:pt>
                  <c:pt idx="14">
                    <c:v>Mar 25</c:v>
                  </c:pt>
                  <c:pt idx="15">
                    <c:v>Abr 25</c:v>
                  </c:pt>
                  <c:pt idx="16">
                    <c:v>May 25</c:v>
                  </c:pt>
                  <c:pt idx="17">
                    <c:v>Jun 25</c:v>
                  </c:pt>
                  <c:pt idx="18">
                    <c:v>Jul 25</c:v>
                  </c:pt>
                  <c:pt idx="19">
                    <c:v>Ago 25</c:v>
                  </c:pt>
                  <c:pt idx="20">
                    <c:v>Sep 25</c:v>
                  </c:pt>
                  <c:pt idx="21">
                    <c:v>Oct 25</c:v>
                  </c:pt>
                  <c:pt idx="22">
                    <c:v>Nov 25</c:v>
                  </c:pt>
                  <c:pt idx="23">
                    <c:v>Dic 25</c:v>
                  </c:pt>
                  <c:pt idx="24">
                    <c:v>Ene 26</c:v>
                  </c:pt>
                  <c:pt idx="25">
                    <c:v>Feb 26</c:v>
                  </c:pt>
                  <c:pt idx="26">
                    <c:v>Mar 26</c:v>
                  </c:pt>
                  <c:pt idx="27">
                    <c:v>Abr 26</c:v>
                  </c:pt>
                  <c:pt idx="28">
                    <c:v>May 26</c:v>
                  </c:pt>
                  <c:pt idx="29">
                    <c:v>Jun 26</c:v>
                  </c:pt>
                  <c:pt idx="30">
                    <c:v>Jul 26</c:v>
                  </c:pt>
                </c:lvl>
              </c:multiLvlStrCache>
            </c:multiLvlStrRef>
          </c:cat>
          <c:val>
            <c:numRef>
              <c:f>Sheet1!$E$2:$E$32</c:f>
              <c:numCache>
                <c:formatCode>General</c:formatCode>
                <c:ptCount val="31"/>
                <c:pt idx="0">
                  <c:v>4</c:v>
                </c:pt>
                <c:pt idx="1">
                  <c:v>4.05</c:v>
                </c:pt>
                <c:pt idx="2">
                  <c:v>4.16</c:v>
                </c:pt>
                <c:pt idx="3">
                  <c:v>4.22</c:v>
                </c:pt>
                <c:pt idx="4">
                  <c:v>4.66</c:v>
                </c:pt>
                <c:pt idx="5">
                  <c:v>4.97</c:v>
                </c:pt>
                <c:pt idx="6">
                  <c:v>5.22</c:v>
                </c:pt>
                <c:pt idx="7">
                  <c:v>5.46</c:v>
                </c:pt>
                <c:pt idx="8">
                  <c:v>5.65</c:v>
                </c:pt>
                <c:pt idx="9">
                  <c:v>5.92</c:v>
                </c:pt>
                <c:pt idx="10">
                  <c:v>6.23</c:v>
                </c:pt>
                <c:pt idx="11">
                  <c:v>6.18</c:v>
                </c:pt>
                <c:pt idx="12">
                  <c:v>6.19</c:v>
                </c:pt>
                <c:pt idx="13">
                  <c:v>6.11</c:v>
                </c:pt>
                <c:pt idx="14">
                  <c:v>6</c:v>
                </c:pt>
                <c:pt idx="15">
                  <c:v>5.9</c:v>
                </c:pt>
                <c:pt idx="16">
                  <c:v>5.67</c:v>
                </c:pt>
                <c:pt idx="17">
                  <c:v>5.46</c:v>
                </c:pt>
                <c:pt idx="18">
                  <c:v>5.31</c:v>
                </c:pt>
                <c:pt idx="19">
                  <c:v>5.05</c:v>
                </c:pt>
                <c:pt idx="20">
                  <c:v>4.89</c:v>
                </c:pt>
                <c:pt idx="21">
                  <c:v>4.58</c:v>
                </c:pt>
                <c:pt idx="22">
                  <c:v>4.47</c:v>
                </c:pt>
                <c:pt idx="23">
                  <c:v>4.45</c:v>
                </c:pt>
                <c:pt idx="24">
                  <c:v>4.42</c:v>
                </c:pt>
                <c:pt idx="25">
                  <c:v>4.39</c:v>
                </c:pt>
                <c:pt idx="26">
                  <c:v>4.34</c:v>
                </c:pt>
                <c:pt idx="27">
                  <c:v>4.29</c:v>
                </c:pt>
                <c:pt idx="28">
                  <c:v>4.22</c:v>
                </c:pt>
                <c:pt idx="29">
                  <c:v>4.2</c:v>
                </c:pt>
                <c:pt idx="30">
                  <c:v>4.16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B72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categoría</c:v>
                </c:pt>
              </c:strCache>
            </c:strRef>
          </c:tx>
          <c:spPr>
            <a:solidFill>
              <a:srgbClr val="0B2545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Lavado</c:v>
                  </c:pt>
                  <c:pt idx="1">
                    <c:v>Refrigeración</c:v>
                  </c:pt>
                  <c:pt idx="2">
                    <c:v>Cocción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0</c:formatCode>
                <c:ptCount val="3"/>
                <c:pt idx="0">
                  <c:v>98</c:v>
                </c:pt>
                <c:pt idx="1">
                  <c:v>88</c:v>
                </c:pt>
                <c:pt idx="2">
                  <c:v>122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Segmento bajo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Lavado</c:v>
                  </c:pt>
                  <c:pt idx="1">
                    <c:v>Refrigeración</c:v>
                  </c:pt>
                  <c:pt idx="2">
                    <c:v>Cocción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0</c:formatCode>
                <c:ptCount val="3"/>
                <c:pt idx="0">
                  <c:v>109</c:v>
                </c:pt>
                <c:pt idx="1">
                  <c:v>117</c:v>
                </c:pt>
                <c:pt idx="2">
                  <c:v/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Segmento medio</c:v>
                </c:pt>
              </c:strCache>
            </c:strRef>
          </c:tx>
          <c:spPr>
            <a:solidFill>
              <a:srgbClr val="93C5F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Lavado</c:v>
                  </c:pt>
                  <c:pt idx="1">
                    <c:v>Refrigeración</c:v>
                  </c:pt>
                  <c:pt idx="2">
                    <c:v>Cocción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0</c:formatCode>
                <c:ptCount val="3"/>
                <c:pt idx="0">
                  <c:v>110</c:v>
                </c:pt>
                <c:pt idx="1">
                  <c:v>94</c:v>
                </c:pt>
                <c:pt idx="2">
                  <c:v>113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Segmento alto</c:v>
                </c:pt>
              </c:strCache>
            </c:strRef>
          </c:tx>
          <c:spPr>
            <a:solidFill>
              <a:srgbClr val="9CA3A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Lavado</c:v>
                  </c:pt>
                  <c:pt idx="1">
                    <c:v>Refrigeración</c:v>
                  </c:pt>
                  <c:pt idx="2">
                    <c:v>Cocción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0</c:formatCode>
                <c:ptCount val="3"/>
                <c:pt idx="0">
                  <c:v>101</c:v>
                </c:pt>
                <c:pt idx="1">
                  <c:v>111</c:v>
                </c:pt>
                <c:pt idx="2">
                  <c:v>97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6B728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 pp</c:v>
                </c:pt>
              </c:strCache>
            </c:strRef>
          </c:tx>
          <c:spPr>
            <a:solidFill>
              <a:srgbClr val="15803D"/>
            </a:solidFill>
            <a:effectLst/>
          </c:spPr>
          <c:invertIfNegative val="0"/>
          <c:dLbls>
            <c:numFmt formatCode="+0.0;-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1182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5803D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B91C1C"/>
              </a:solidFill>
              <a:effectLst/>
            </c:spPr>
          </c:dPt>
          <c:cat>
            <c:multiLvlStrRef>
              <c:f>Sheet1!$A$2:$A$16</c:f>
              <c:multiLvlStrCache>
                <c:ptCount val="15"/>
                <c:lvl>
                  <c:pt idx="0">
                    <c:v>Philco · Lavado (índ. 84)</c:v>
                  </c:pt>
                  <c:pt idx="1">
                    <c:v>BGH · Refrigeración (índ. 75)</c:v>
                  </c:pt>
                  <c:pt idx="2">
                    <c:v>Philco · Refrigeración (índ. 78)</c:v>
                  </c:pt>
                  <c:pt idx="3">
                    <c:v>Electrolux · Refrigeración (índ. 105)</c:v>
                  </c:pt>
                  <c:pt idx="4">
                    <c:v>Smartlife · Lavado (índ. 87)</c:v>
                  </c:pt>
                  <c:pt idx="5">
                    <c:v>Marcas propias · Refrigeración (índ. 67)</c:v>
                  </c:pt>
                  <c:pt idx="6">
                    <c:v>LG · Lavado (índ. 137)</c:v>
                  </c:pt>
                  <c:pt idx="7">
                    <c:v>Gafa · Refrigeración (índ. 77)</c:v>
                  </c:pt>
                  <c:pt idx="8">
                    <c:v>Midea · Lavado (índ. 92)</c:v>
                  </c:pt>
                  <c:pt idx="9">
                    <c:v>Hisense · Refrigeración (índ. 95)</c:v>
                  </c:pt>
                  <c:pt idx="10">
                    <c:v>Drean · Lavado (índ. 101)</c:v>
                  </c:pt>
                  <c:pt idx="11">
                    <c:v>Whirlpool · Refrigeración (índ. 114)</c:v>
                  </c:pt>
                  <c:pt idx="12">
                    <c:v>Samsung · Lavado (índ. 125)</c:v>
                  </c:pt>
                  <c:pt idx="13">
                    <c:v>Samsung · Refrigeración (índ. 140)</c:v>
                  </c:pt>
                  <c:pt idx="14">
                    <c:v>Whirlpool · Lavado (índ. 102)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23.7</c:v>
                </c:pt>
                <c:pt idx="1">
                  <c:v>12.7</c:v>
                </c:pt>
                <c:pt idx="2">
                  <c:v>7.7</c:v>
                </c:pt>
                <c:pt idx="3">
                  <c:v>4.5</c:v>
                </c:pt>
                <c:pt idx="4">
                  <c:v>4.2</c:v>
                </c:pt>
                <c:pt idx="5">
                  <c:v>2.9</c:v>
                </c:pt>
                <c:pt idx="6">
                  <c:v>2.8</c:v>
                </c:pt>
                <c:pt idx="7">
                  <c:v>2.6</c:v>
                </c:pt>
                <c:pt idx="8">
                  <c:v>2.5</c:v>
                </c:pt>
                <c:pt idx="9">
                  <c:v>-3.2</c:v>
                </c:pt>
                <c:pt idx="10">
                  <c:v>-4.9</c:v>
                </c:pt>
                <c:pt idx="11">
                  <c:v>-11</c:v>
                </c:pt>
                <c:pt idx="12">
                  <c:v>-11.1</c:v>
                </c:pt>
                <c:pt idx="13">
                  <c:v>-16.9</c:v>
                </c:pt>
                <c:pt idx="14">
                  <c:v>-17.9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b="0" i="0" strike="noStrike" sz="900" u="none">
                  <a:solidFill>
                    <a:srgbClr val="11182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CA3A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56616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112471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9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900" dirty="0"/>
          </a:p>
        </p:txBody>
      </p:sp>
      <p:sp>
        <p:nvSpPr>
          <p:cNvPr id="5" name="Text 0"/>
          <p:cNvSpPr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Drean · Market Intelligence &amp; Competitive Performance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Market Intelligence &amp; Competitive Performance 2026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Drean · Lavado, Refrigeración y Cocción · GfK enero–julio 2026 vs 2025 e histórico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RESUMEN EJECUTIVO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Drean lidera Lavado y Refrigeración, pero pierde share en Lavado frente a retadores de precio; Cocción es su motor de crecimiento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Fuente: GfK (Brands Timeseries) cargado en el tablero de Mercado; extracto del 19-oct-2026. MAT = acumulado móvil 12 meses. Último mes disponible: jul-2026. Ranking sin contar "Otras".</a:t>
            </a:r>
            <a:endParaRPr lang="en-US" sz="900" dirty="0"/>
          </a:p>
        </p:txBody>
      </p:sp>
      <p:sp>
        <p:nvSpPr>
          <p:cNvPr id="5" name="kv1"/>
          <p:cNvSpPr txBox="1"/>
          <p:nvPr/>
        </p:nvSpPr>
        <p:spPr>
          <a:xfrm>
            <a:off x="457200" y="1645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26,6%</a:t>
            </a:r>
            <a:endParaRPr lang="en-US" sz="3000" dirty="0"/>
          </a:p>
        </p:txBody>
      </p:sp>
      <p:sp>
        <p:nvSpPr>
          <p:cNvPr id="6" name="kl1"/>
          <p:cNvSpPr txBox="1"/>
          <p:nvPr/>
        </p:nvSpPr>
        <p:spPr>
          <a:xfrm>
            <a:off x="457200" y="23042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Lavado · share en unidades MAT jul-26 (#1)</a:t>
            </a:r>
            <a:endParaRPr lang="en-US" sz="1100" dirty="0"/>
          </a:p>
        </p:txBody>
      </p:sp>
      <p:sp>
        <p:nvSpPr>
          <p:cNvPr id="7" name="kd1"/>
          <p:cNvSpPr txBox="1"/>
          <p:nvPr/>
        </p:nvSpPr>
        <p:spPr>
          <a:xfrm>
            <a:off x="457200" y="2743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-6,1 pp vs MAT jul-25</a:t>
            </a:r>
            <a:endParaRPr lang="en-US" sz="1100" dirty="0"/>
          </a:p>
        </p:txBody>
      </p:sp>
      <p:sp>
        <p:nvSpPr>
          <p:cNvPr id="8" name="kv2"/>
          <p:cNvSpPr txBox="1"/>
          <p:nvPr/>
        </p:nvSpPr>
        <p:spPr>
          <a:xfrm>
            <a:off x="4206240" y="1645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18,5%</a:t>
            </a:r>
            <a:endParaRPr lang="en-US" sz="3000" dirty="0"/>
          </a:p>
        </p:txBody>
      </p:sp>
      <p:sp>
        <p:nvSpPr>
          <p:cNvPr id="9" name="kl2"/>
          <p:cNvSpPr txBox="1"/>
          <p:nvPr/>
        </p:nvSpPr>
        <p:spPr>
          <a:xfrm>
            <a:off x="4206240" y="23042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Refrigeración · share en unidades MAT jul-26 (#1)</a:t>
            </a:r>
            <a:endParaRPr lang="en-US" sz="1100" dirty="0"/>
          </a:p>
        </p:txBody>
      </p:sp>
      <p:sp>
        <p:nvSpPr>
          <p:cNvPr id="10" name="kd2"/>
          <p:cNvSpPr txBox="1"/>
          <p:nvPr/>
        </p:nvSpPr>
        <p:spPr>
          <a:xfrm>
            <a:off x="4206240" y="2743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</a:rPr>
              <a:t>-2,0 pp vs MAT jul-25</a:t>
            </a:r>
            <a:endParaRPr lang="en-US" sz="1100" dirty="0"/>
          </a:p>
        </p:txBody>
      </p:sp>
      <p:sp>
        <p:nvSpPr>
          <p:cNvPr id="11" name="kv3"/>
          <p:cNvSpPr txBox="1"/>
          <p:nvPr/>
        </p:nvSpPr>
        <p:spPr>
          <a:xfrm>
            <a:off x="7955280" y="16459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9,9%</a:t>
            </a:r>
            <a:endParaRPr lang="en-US" sz="3000" dirty="0"/>
          </a:p>
        </p:txBody>
      </p:sp>
      <p:sp>
        <p:nvSpPr>
          <p:cNvPr id="12" name="kl3"/>
          <p:cNvSpPr txBox="1"/>
          <p:nvPr/>
        </p:nvSpPr>
        <p:spPr>
          <a:xfrm>
            <a:off x="7955280" y="23042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Cocción · share en unidades MAT jul-26 (#3)</a:t>
            </a:r>
            <a:endParaRPr lang="en-US" sz="1100" dirty="0"/>
          </a:p>
        </p:txBody>
      </p:sp>
      <p:sp>
        <p:nvSpPr>
          <p:cNvPr id="13" name="kd3"/>
          <p:cNvSpPr txBox="1"/>
          <p:nvPr/>
        </p:nvSpPr>
        <p:spPr>
          <a:xfrm>
            <a:off x="7955280" y="27432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+6,9 pp vs MAT jul-25</a:t>
            </a:r>
            <a:endParaRPr lang="en-US" sz="1100" dirty="0"/>
          </a:p>
        </p:txBody>
      </p:sp>
      <p:sp>
        <p:nvSpPr>
          <p:cNvPr id="14" name="vin4"/>
          <p:cNvSpPr txBox="1"/>
          <p:nvPr/>
        </p:nvSpPr>
        <p:spPr>
          <a:xfrm>
            <a:off x="457200" y="3337560"/>
            <a:ext cx="11247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Lavado: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líder con 26,6%, pero −6,1 pp en un año y caída sostenida desde 2024. Philco quedó a 10,4 pp (a 2 pp en junio). La mayor pérdida está en el segmento bajo (−15,8 pp).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Refrigeración: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líder con 18,5%. La caída se frenó: el MAT sube desde mayo y julio dio 20,2% (+5,0 pp vs jul-25). Drean es fuerte en el segmento sin no-frost y casi no tiene presencia en no-frost.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Cocción: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de 3,0% a 9,9% en un año (+6,9 pp en unidades y +8,4 pp en valor), con precio premium (índice 122). El líder Escorial cede −7,6 pp.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Mercado: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Philco gana en las tres categorías; Samsung y Whirlpool retroceden; los segmentos premium (carga alta, no-frost) los ganan marcas con precio 16–25% bajo el mercado.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Precio: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Drean es premium dentro de cada segmento, pero su índice total en Lavado (98) y Refrigeración (88) queda bajo 100 por su mezcla de segmentos.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CÓMO LEER ESTE DIAGNÓSTICO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Qué permiten los datos de mercado y qué no: no hay volúmenes absolutos, así que el share global no se puede calcular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Fuente: GfK (Brands Timeseries) cargado en el tablero de Mercado; extracto del 19-oct-2026. MAT = acumulado móvil 12 meses. Último mes disponible: jul-2026. Ranking sin contar "Otras". Validación: el índice de precio coincide con share en valor ÷ share en unidades × 100 (mediana de la diferencia 0,0; 3.142 filas).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377440"/>
                <a:gridCol w="557784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6"/>
                          </a:solidFill>
                        </a:rPr>
                        <a:t>Qué pide el análisis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6"/>
                          </a:solidFill>
                        </a:rPr>
                        <a:t>Disponible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6"/>
                          </a:solidFill>
                        </a:rPr>
                        <a:t>Cómo se resolvió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Share en unidades y en valor, índice de precio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Sí, por marca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GfK mensual y MAT; Total y 3 segmentos por categoría.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Volumen, facturación y precio promedio del mercado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La base guarda solo shares. Falta la fila "Market" de GfK: no hay tamaño ni evolución del mercado.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Mercado global (suma de categorías) e índice ponderado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Sin volúmenes no se puede ponderar. Se presenta la posición de Drean categoría por categoría.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Meses de 2026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Ene–jul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Ago–dic sin datos (marcados con *). Agosto y septiembre todavía no están cargados.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Mismo mes 2025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Parcial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Lavado total: unidades ene–jul (abril sin dato). Refrigeración y Cocción total: solo julio. Segmentos: desde abril.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YTD 2026 vs YTD 2025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Requiere unidades por mes. Se usa el MAT (12 meses) a jul-26 vs jul-25, que no promedia shares.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vs dic-2025 e histórico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Sí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Mensual jul-26 vs dic-25; MAT desde 2023–2024.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Real vs nominal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No aplica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El share y el índice de precio son relativos: no dependen de la inflación.</a:t>
                      </a:r>
                      <a:endParaRPr lang="en-US" sz="11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Capítulo 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Mercado global y posición de Drean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56616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Lectura por categoría. Sin volúmenes de mercado no se puede consolidar un total global, así que no se suman ni se promedian shares.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POSICIÓN GLOBAL DE DREAN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Drean es #1 en unidades en Lavado y Refrigeración y #3 en Cocción; pierde en las dos primeras y gana en Cocción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Fuente: GfK (Brands Timeseries) cargado en el tablero de Mercado; extracto del 19-oct-2026. MAT = acumulado móvil 12 meses. Último mes disponible: jul-2026. Ranking sin contar "Otras". Índice de precio = precio promedio de Drean ÷ precio promedio del mercado × 100 (GfK, unidades).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79095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868680"/>
                <a:gridCol w="868680"/>
                <a:gridCol w="914400"/>
                <a:gridCol w="960120"/>
                <a:gridCol w="822960"/>
                <a:gridCol w="8229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6"/>
                          </a:solidFill>
                        </a:rPr>
                        <a:t>Categoría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6"/>
                          </a:solidFill>
                        </a:rPr>
                        <a:t>Métrica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6"/>
                          </a:solidFill>
                        </a:rPr>
                        <a:t>MAT jul-25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6"/>
                          </a:solidFill>
                        </a:rPr>
                        <a:t>MAT jul-26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6"/>
                          </a:solidFill>
                        </a:rPr>
                        <a:t>Δ MAT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6"/>
                          </a:solidFill>
                        </a:rPr>
                        <a:t>Jul-26 (mes)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6"/>
                          </a:solidFill>
                        </a:rPr>
                        <a:t>vs jul-25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6"/>
                          </a:solidFill>
                        </a:rPr>
                        <a:t>vs dic-25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Lavado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Share unidades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32,7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26,6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-6,1 pp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24,9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-3,0 pp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-5,1 pp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Lavado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Share valor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33,9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26,1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-7,7 pp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25,4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-0,8 pp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-4,4 pp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Lavado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Índice de precio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103,0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98,0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-5,0 pts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102,0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+8,0 pts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+3,0 pts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Refrigeración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Share unidades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20,4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18,5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-2,0 pp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20,2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+5,0 pp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+2,5 pp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Refrigeración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Share valor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18,7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16,2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-2,5 pp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17,9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+3,7 pp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+1,7 pp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Refrigeración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Índice de precio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91,0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88,0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-3,0 pts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89,0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-5,0 pts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-3,0 pts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Cocción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Share unidades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3,0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9,9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+6,9 pp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11,7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+4,2 pp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+3,4 pp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Cocción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Share valor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3,7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12,1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+8,4 pp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15,8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+7,8 pp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+5,5 pp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Cocción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Índice de precio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122,0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122,0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0,0 pts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136,0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+29,0 pts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+11,0 pts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lect5"/>
          <p:cNvSpPr/>
          <p:nvPr/>
        </p:nvSpPr>
        <p:spPr>
          <a:xfrm>
            <a:off x="8549640" y="1600200"/>
            <a:ext cx="3154680" cy="4434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lectT5"/>
          <p:cNvSpPr txBox="1"/>
          <p:nvPr/>
        </p:nvSpPr>
        <p:spPr>
          <a:xfrm>
            <a:off x="8732520" y="1783080"/>
            <a:ext cx="27889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Qué significa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Las tres categorías van en direcciones distintas: Lavado cae, Refrigeración se estabiliza y Cocción crece. Un promedio global escondería esto.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Qué decisión habilita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Gestionar con una estrategia por categoría. Para tener un número global, cargar el volumen de mercado de GfK (hallazgo 18).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Confianza: alta · hecho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GANADORES Y PERDEDORES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Philco, Midea y Drean en Cocción son los que más ganan; Drean en Lavado, Escorial, Samsung y Whirlpool los que más pierden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Fuente: GfK (Brands Timeseries) cargado en el tablero de Mercado; extracto del 19-oct-2026. MAT = acumulado móvil 12 meses. Último mes disponible: jul-2026. Ranking sin contar "Otras". Δ = share en unidades MAT jul-26 menos MAT jul-25. Sin "Otras" ni marcas propias.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00200"/>
          <a:ext cx="78638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lect6"/>
          <p:cNvSpPr/>
          <p:nvPr/>
        </p:nvSpPr>
        <p:spPr>
          <a:xfrm>
            <a:off x="8549640" y="1600200"/>
            <a:ext cx="3154680" cy="4434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lectT6"/>
          <p:cNvSpPr txBox="1"/>
          <p:nvPr/>
        </p:nvSpPr>
        <p:spPr>
          <a:xfrm>
            <a:off x="8732520" y="1783080"/>
            <a:ext cx="27889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Qué significa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Las ganancias se concentran en retadores de precio (Philco, Midea, Smartlife, BGH) y en Drean en Cocción. Las pérdidas, en líderes históricos (Drean en Lavado, Escorial) y en premium globales (Samsung, Whirlpool).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Qué decisión habilita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El mapa competitivo se mueve hacia el precio. Drean es ganador en una categoría y perdedor en otra.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Confianza: alta · hecho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Capítulo 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Lavado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56616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Drean lidera, pero el share cae desde 2024 y Philco se acerca. El segmento bajo concentra la pérdida.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LAVADO · EVOLUCIÓN DE DREAN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Lavado: Drean cayó a 26,6% de share (−6,1 pp en el año) y cada mes de 2026 quedó debajo de 2025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Fuente: GfK (Brands Timeseries) cargado en el tablero de Mercado; extracto del 19-oct-2026. MAT = acumulado móvil 12 meses. Último mes disponible: jul-2026. Ranking sin contar "Otras". Línea gris = mismo mes 2025 (donde hay dato). * = sin datos.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00200"/>
          <a:ext cx="51206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623560" y="1600200"/>
          <a:ext cx="27889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lect7"/>
          <p:cNvSpPr/>
          <p:nvPr/>
        </p:nvSpPr>
        <p:spPr>
          <a:xfrm>
            <a:off x="8549640" y="1600200"/>
            <a:ext cx="3154680" cy="4434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ctT7"/>
          <p:cNvSpPr txBox="1"/>
          <p:nvPr/>
        </p:nvSpPr>
        <p:spPr>
          <a:xfrm>
            <a:off x="8732520" y="1783080"/>
            <a:ext cx="27889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Qué significa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Es una caída sostenida y no un mes malo: el MAT bajó todos los meses desde enero de 2024, salvo febrero de 2024 y febrero de 2025 (era 39,3%).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Qué decisión habilita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Recuperar share en Lavado es la prioridad comercial número uno de 2027.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Confianza: alta · hecho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LAVADO · COMPETIDORES Y SEGMENTOS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Lavado: Philco +9,2 pp y nuevo líder de carga alta; Drean pierde 15,8 pp en el segmento bajo con precio en alza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Fuente: GfK (Brands Timeseries) cargado en el tablero de Mercado; extracto del 19-oct-2026. MAT = acumulado móvil 12 meses. Último mes disponible: jul-2026. Ranking sin contar "Otras". Segmentos según GfK: bajo hasta 7,4 kg · medio 7,5–8,9 kg · alto 9 kg o más (automáticos).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56692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685800"/>
                <a:gridCol w="640080"/>
                <a:gridCol w="685800"/>
                <a:gridCol w="640080"/>
                <a:gridCol w="777240"/>
                <a:gridCol w="640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Marca (MAT jul-26)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Unid. %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Δ pp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Valor %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Δ pp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Índ. precio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Δ pts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Drean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26,6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-6,1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26,1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-7,7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98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Philco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16,2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+9,2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16,1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+10,2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+15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Otras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14,1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5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-6,2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11,0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-1,9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78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+15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Samsung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6,8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8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-5,2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10,7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-7,1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158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+9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Codini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5,8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A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+0,5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2,6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+0,5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BGH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4,8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+1,7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4,9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+1,7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Whirlpool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-4,3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6,3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-6,3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141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Midea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+2,8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4,7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+3,0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106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+4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LG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4,2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E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+2,3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6,5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+3,1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156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-20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Smartlife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3,9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+2,3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3,8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+2,5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99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+16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600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Drean por segmento (MAT jul-26)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920240"/>
          <a:ext cx="53949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85800"/>
                <a:gridCol w="914400"/>
                <a:gridCol w="502920"/>
                <a:gridCol w="548640"/>
                <a:gridCol w="1508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Segmento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Share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Δ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Índ.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Rank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Líder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Bajo (≤7,4 kg)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26,8%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-15,8 pp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109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#1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Drean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Medio (7,5–8,9)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36,7%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-4,6 pp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#1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Drean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Alto (≥9 kg)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14,0%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-4,9 pp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#3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Philco 30,4%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309360" y="329184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</a:rPr>
              <a:t>Drean en el segmento bajo: 42,5% a 26,8% MAT. Mensual: 52,7% en ene-25 y 25,9% en ene-26. En ese segmento ganan Philco (+7,8 pp), Others (+4,0), Kanjihome (+3,6) y BGH (+2,4).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</a:rPr>
              <a:t>Segmento alto MAT: Philco 6,7% a 30,4% (+23,7 pp) con índice 84; Samsung −11,1 pp; Whirlpool −17,9 pp. Drean −4,9 pp a 14,0% (#3), con índice 101.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</a:rPr>
              <a:t>Índice de precio de Drean en el segmento bajo: 103 → 109 mientras perdía share. Es una correlación, no prueba causa.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Capítulo 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Refrigeración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56616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Drean lidera y la caída se frenó en 2026. Es fuerte en el segmento sin no-frost y casi no está en no-frost.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REFRIGERACIÓN · EVOLUCIÓN DE DREAN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Refrigeración: la caída se frenó; julio 2026 dio 20,2% de share (+5,0 pp vs jul-25) y el año móvil vuelve a subir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Fuente: GfK (Brands Timeseries) cargado en el tablero de Mercado; extracto del 19-oct-2026. MAT = acumulado móvil 12 meses. Último mes disponible: jul-2026. Ranking sin contar "Otras". Línea gris = mismo mes 2025 (donde hay dato). * = sin datos.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00200"/>
          <a:ext cx="51206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623560" y="1600200"/>
          <a:ext cx="27889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lect8"/>
          <p:cNvSpPr/>
          <p:nvPr/>
        </p:nvSpPr>
        <p:spPr>
          <a:xfrm>
            <a:off x="8549640" y="1600200"/>
            <a:ext cx="3154680" cy="4434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ctT8"/>
          <p:cNvSpPr txBox="1"/>
          <p:nvPr/>
        </p:nvSpPr>
        <p:spPr>
          <a:xfrm>
            <a:off x="8732520" y="1783080"/>
            <a:ext cx="27889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Qué significa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La tendencia pasó de caída a estabilidad con leve recuperación. Ene–jun 2025 mensual no está en la base, así que la comparación interanual mensual solo es posible para julio.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Qué decisión habilita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Sostener lo que funcionó en 2026 en Refrigeración y medir si la recuperación mensual se traslada al año móvil.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Confianza: media · hecho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REFRIGERACIÓN · COMPETIDORES Y SEGMENTOS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Refrigeración: Drean es líder y premium sin no-frost (28,7%, índice 117), pero marginal en no-frost, donde ganan Philco y BGH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Fuente: GfK (Brands Timeseries) cargado en el tablero de Mercado; extracto del 19-oct-2026. MAT = acumulado móvil 12 meses. Último mes disponible: jul-2026. Ranking sin contar "Otras". Segmentos según GfK: bajo = sin no-frost · medio = no-frost 1–2 puertas freezer arriba · alto = no-frost side by side, 3+ puertas o freezer abajo.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56692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685800"/>
                <a:gridCol w="640080"/>
                <a:gridCol w="685800"/>
                <a:gridCol w="640080"/>
                <a:gridCol w="777240"/>
                <a:gridCol w="640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Marca (MAT jul-26)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Unid. %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Δ pp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Valor %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Δ pp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Índ. precio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Δ pts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Drean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18,5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-2,0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16,2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-2,5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Gafa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14,8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D3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+0,4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12,8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+0,3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87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Otras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12,8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B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-0,5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11,9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-0,1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93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Philco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11,5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+2,5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9,8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+3,1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86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+11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Samsung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9,7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-4,3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15,5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-5,9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160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+7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Whirlpool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8,2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D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-2,7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10,5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-3,6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128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Midea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+3,9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4,6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+3,7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102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-48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Electrolux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4,0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D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+0,2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5,8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+1,0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+17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Telefunken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3,7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+2,5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1,8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+1,3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49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+4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Marcas propias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3,6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-4,9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2,6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-3,0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72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600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Drean por segmento (MAT jul-26)</a:t>
            </a:r>
            <a:endParaRPr lang="en-US" sz="11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920240"/>
          <a:ext cx="53949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85800"/>
                <a:gridCol w="914400"/>
                <a:gridCol w="502920"/>
                <a:gridCol w="548640"/>
                <a:gridCol w="1508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Segmento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Share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Δ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Índ.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Rank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Líder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Sin no-frost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28,7%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+0,7 pp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117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#1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Drean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No-frost medio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9,9%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-0,4 pp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94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#4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Samsung 23,1%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No-frost alto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1,8%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-1,3 pp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111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#11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Philco 20,8%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309360" y="329184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</a:rPr>
              <a:t>Sin no-frost: 28,7% MAT (#1; +0,7 pp; índice 117) y 29–34% mensual en 2026 vs 23,6–29,1% en abr–jul 2025. No-frost medio: 9,9% (#4). No-frost alto: 1,8% (#11).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</a:rPr>
              <a:t>Segmento alto MAT: Philco +7,7 pp (20,8%, índice 78), BGH +12,7 pp (14,8%, índice 75), Samsung −16,9 pp (14,3%, índice 140), Whirlpool −11,0 pp (12,2%).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</a:rPr>
              <a:t>Índice total 88: Drean vende por debajo del precio promedio porque su mezcla está en el segmento básico (hallazgo 15).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Capítulo 4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Cocción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56616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La categoría donde Drean más crece, con precio premium y foco en los anchos de más valor.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COCCIÓN · EVOLUCIÓN DE DREAN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Cocción: Drean triplicó su share en un año (3,0% → 9,9%) y en valor ya tiene 12,1%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Fuente: GfK (Brands Timeseries) cargado en el tablero de Mercado; extracto del 19-oct-2026. MAT = acumulado móvil 12 meses. Último mes disponible: jul-2026. Ranking sin contar "Otras". Línea gris = mismo mes 2025 (donde hay dato). * = sin datos.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00200"/>
          <a:ext cx="51206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5623560" y="1600200"/>
          <a:ext cx="278892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lect9"/>
          <p:cNvSpPr/>
          <p:nvPr/>
        </p:nvSpPr>
        <p:spPr>
          <a:xfrm>
            <a:off x="8549640" y="1600200"/>
            <a:ext cx="3154680" cy="4434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lectT9"/>
          <p:cNvSpPr txBox="1"/>
          <p:nvPr/>
        </p:nvSpPr>
        <p:spPr>
          <a:xfrm>
            <a:off x="8732520" y="1783080"/>
            <a:ext cx="27889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Qué significa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Es una ganancia sostenida y no un pico.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Qué decisión habilita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Cocción es la plataforma de crecimiento: sostener la inversión y el surtido.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Confianza: alta · hecho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COCCIÓN · COMPETIDORES Y SEGMENTOS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Cocción: Drean crece con precio premium en los segmentos medio y alto mientras el líder Escorial pierde 7,6 pp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Fuente: GfK (Brands Timeseries) cargado en el tablero de Mercado; extracto del 19-oct-2026. MAT = acumulado móvil 12 meses. Último mes disponible: jul-2026. Ranking sin contar "Otras". Segmentos según GfK: bajo hasta 54 cm · medio 55–56 cm · alto 57 cm o más.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56692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685800"/>
                <a:gridCol w="640080"/>
                <a:gridCol w="685800"/>
                <a:gridCol w="640080"/>
                <a:gridCol w="777240"/>
                <a:gridCol w="6400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Marca (MAT jul-26)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Unid. %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Δ pp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Valor %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Δ pp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Índ. precio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Δ pts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Escorial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31,3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-7,6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21,7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-4,8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Florencia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15,6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5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-0,5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13,4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-1,2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86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Otras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14,6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7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+0,8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16,3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-1,4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112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-16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Drean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9,9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1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+6,9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12,1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+8,4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122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Longvie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4,2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-1,1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6,2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-2,0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148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Philco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4,1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+3,0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3,1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+1,8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74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-31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Whirlpool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4,0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D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+0,2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6,5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-0,1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163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-11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Electrolux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3,3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+1,5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7,3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+3,2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224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-12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Orbis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3,3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-0,4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4,0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-0,7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125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-4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Morelli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3,0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-0,2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4,1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-0,5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137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-9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6002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</a:rPr>
              <a:t>Drean por segmento (MAT jul-26)</a:t>
            </a:r>
            <a:endParaRPr lang="en-US" sz="11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920240"/>
          <a:ext cx="53949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85800"/>
                <a:gridCol w="914400"/>
                <a:gridCol w="502920"/>
                <a:gridCol w="548640"/>
                <a:gridCol w="1508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Segmento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Share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Δ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Índ.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Rank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Líder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Bajo (≤54 cm)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0,1%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-0,4 pp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187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#12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Escorial 60,5%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Medio (55–56)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16,1%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+11,1 pp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113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#3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Florencia 25,8%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Alto (≥57 cm)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5,3%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+4,4 pp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97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#7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Longvie 15,1%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309360" y="329184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</a:rPr>
              <a:t>Índice de precio total MAT 122 (jul-26 mensual: 136). Segmento medio (55–56 cm): 5,0% a 16,1% (#3, índice 113). Segmento alto (57 cm o más): 0,9% a 5,3% (índice 97). Segmento bajo: 0,1% (sale).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11827"/>
                </a:solidFill>
              </a:rPr>
              <a:t>Escorial: 38,9% a 31,3% MAT (−7,6 pp); en el segmento bajo, 71,6% a 60,5%. En el segmento medio cede −6,2 pp, donde Drean gana +11,1.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Capítulo 5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Análisis transversal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56616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Matriz competitiva, precio y dinámica del mercado.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MATRIZ COMPETITIVA ENTRE MERCADOS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Philco es el único competidor que gana en las tres categorías; Samsung y Whirlpool pierden en todas donde compiten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Fuente: GfK (Brands Timeseries) cargado en el tablero de Mercado; extracto del 19-oct-2026. MAT = acumulado móvil 12 meses. Último mes disponible: jul-2026. Ranking sin contar "Otras". Δ share en unidades MAT jul-26 vs jul-25 (pp) e índice de precio MAT jul-26. "—" = la marca no figura en esa categoría.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76809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731520"/>
                <a:gridCol w="685800"/>
                <a:gridCol w="731520"/>
                <a:gridCol w="731520"/>
                <a:gridCol w="685800"/>
                <a:gridCol w="731520"/>
                <a:gridCol w="731520"/>
                <a:gridCol w="685800"/>
                <a:gridCol w="7315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Marca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Lav. Δ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Lav. %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Lav. índ.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Refri Δ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Refri %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Refri índ.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Cocc. Δ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Cocc. %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chemeClr val="accent6"/>
                          </a:solidFill>
                        </a:rPr>
                        <a:t>Cocc. índ.</a:t>
                      </a:r>
                      <a:endParaRPr lang="en-US" sz="8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Drean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-6,1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26,6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98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-2,0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F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18,5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88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+6,9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9,9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122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Philco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+9,2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16,2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+2,5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CF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11,5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86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+3,0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D5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4,1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74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Samsung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-5,2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C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6,8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158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-4,3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9,7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160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Whirlpool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-4,3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141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-2,7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8,2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128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+0,2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4,0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163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Midea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+2,8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DD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106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+3,9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3C5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102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BGH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+1,7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1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4,8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+3,2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A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125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Smartlife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+2,3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F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3,9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99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+2,3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0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2,3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93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LG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+2,3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F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4,2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156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Electrolux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+0,2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F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4,0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145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+1,5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DB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3,3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224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Gafa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+0,4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E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14,8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87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Escorial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-7,6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31,3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69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Florencia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-0,5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3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15,6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86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lect10"/>
          <p:cNvSpPr/>
          <p:nvPr/>
        </p:nvSpPr>
        <p:spPr>
          <a:xfrm>
            <a:off x="8549640" y="1600200"/>
            <a:ext cx="3154680" cy="4434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lectT10"/>
          <p:cNvSpPr txBox="1"/>
          <p:nvPr/>
        </p:nvSpPr>
        <p:spPr>
          <a:xfrm>
            <a:off x="8732520" y="1783080"/>
            <a:ext cx="27889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Qué significa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Es el único competidor que avanza en las tres categorías a la vez. La demanda se movió hacia marcas de precio medio y bajo. Es consistente con un consumidor más sensible al precio; los datos de share no miden esa causa.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Qué decisión habilita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Armar un seguimiento competitivo dedicado a Philco: precio, surtido, canales y pauta.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Confianza: alta · hecho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PRICING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Drean es premium dentro de cada segmento, pero su índice total en Lavado y Refrigeración queda bajo 100 por la mezcla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Fuente: GfK (Brands Timeseries) cargado en el tablero de Mercado; extracto del 19-oct-2026. MAT = acumulado móvil 12 meses. Último mes disponible: jul-2026. Ranking sin contar "Otras". Índice de precio de Drean, MAT jul-26. Base 100 = precio promedio del mercado (o del segmento). Sin barra: Drean con menos de 1% de share en ese segmento (Cocción bajo: 0,1%).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00200"/>
          <a:ext cx="78638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lect11"/>
          <p:cNvSpPr/>
          <p:nvPr/>
        </p:nvSpPr>
        <p:spPr>
          <a:xfrm>
            <a:off x="8549640" y="1600200"/>
            <a:ext cx="3154680" cy="4434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lectT11"/>
          <p:cNvSpPr txBox="1"/>
          <p:nvPr/>
        </p:nvSpPr>
        <p:spPr>
          <a:xfrm>
            <a:off x="8732520" y="1783080"/>
            <a:ext cx="27889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Qué significa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Es un efecto de composición: Drean concentra su venta en los segmentos de menor precio de Lavado y Refrigeración, y en los de mayor precio de Cocción. El índice total no dice que Drean sea "barato".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Qué decisión habilita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Leer siempre el índice de precio por segmento, no solo el total.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Confianza: alta · hecho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DINÁMICA COMPETITIVA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Los segmentos premium cambian de manos: los mayores avances son de Philco y BGH, con precios 16–25% bajo el mercado; Samsung y Whirlpool pierden 11 a 18 pp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Fuente: GfK (Brands Timeseries) cargado en el tablero de Mercado; extracto del 19-oct-2026. MAT = acumulado móvil 12 meses. Último mes disponible: jul-2026. Ranking sin contar "Otras". Segmento alto de cada categoría, Δ share en unidades MAT jul-26 vs jul-25.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00200"/>
          <a:ext cx="78638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lect12"/>
          <p:cNvSpPr/>
          <p:nvPr/>
        </p:nvSpPr>
        <p:spPr>
          <a:xfrm>
            <a:off x="8549640" y="1600200"/>
            <a:ext cx="3154680" cy="4434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lectT12"/>
          <p:cNvSpPr txBox="1"/>
          <p:nvPr/>
        </p:nvSpPr>
        <p:spPr>
          <a:xfrm>
            <a:off x="8732520" y="1783080"/>
            <a:ext cx="278892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Qué significa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El segmento premium se volvió una pelea de precio: lo gana la marca más barata del segmento (Philco, índice 84) y pierden las marcas globales. Es el mismo patrón que en Lavado carga alta: el segmento premium se abarata y lo ganan los retadores de precio.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Qué decisión habilita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Hay una ventana de entrada en no-frost para una marca local con precio competitivo.</a:t>
            </a:r>
            <a:endParaRPr lang="en-US" sz="1100" dirty="0"/>
          </a:p>
          <a:p>
            <a:pPr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Confianza: alta · hecho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Capítulo 6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Hallazgos e implicancias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56616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Qué dicen los datos y qué decisiones habilitan para 2027.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HALLAZGOS CLAVE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Diez hallazgos con evidencia: la matriz completa de 18 está en el anexo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Fuente: GfK (Brands Timeseries) cargado en el tablero de Mercado; extracto del 19-oct-2026. MAT = acumulado móvil 12 meses. Último mes disponible: jul-2026. Ranking sin contar "Otras". Tipo: hecho = dato medido; correlación = coincidencia temporal (no prueba causa).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280160"/>
                <a:gridCol w="7589520"/>
                <a:gridCol w="109728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6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6"/>
                          </a:solidFill>
                        </a:rPr>
                        <a:t>Mercado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6"/>
                          </a:solidFill>
                        </a:rPr>
                        <a:t>Hallazgo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6"/>
                          </a:solidFill>
                        </a:rPr>
                        <a:t>Tipo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6"/>
                          </a:solidFill>
                        </a:rPr>
                        <a:t>Confianza</a:t>
                      </a:r>
                      <a:endParaRPr lang="en-US" sz="9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82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Lavado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Drean sigue primero en Lavado, pero perdió 6,1 pp de share en unidades en un año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Hecho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Lavado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Philco es el retador directo: la distancia con Drean bajó de 25,7 a 10,4 pp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Hecho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Lavado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La mayor pérdida está en el segmento bajo (hasta 7,4 kg): −15,8 pp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Hecho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Lavado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En el segmento bajo, Drean perdió share mientras su precio relativo subió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Correlación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Lavado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En carga alta (9 kg o más) el mercado cambió de líder: Philco 30,4%, y Samsung y Whirlpool se desplomaron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Hecho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Refrigeración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En Refrigeración, Drean lidera y la caída se frenó en 2026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Hecho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Media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Refrigeración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La fortaleza de Drean está en el segmento sin no-frost; en no-frost tiene poca presencia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Hecho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Cocción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Cocción es la categoría donde Drean más crece: de 3,0% a 9,9% en un año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Hecho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Transversal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Drean es premium dentro de cada segmento, pero su índice total queda en 100 o menos por la mezcla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Hecho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Transversal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Philco es el retador común: gana share en las tres categorías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Hecho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Alta</a:t>
                      </a:r>
                      <a:endParaRPr lang="en-US" sz="1000" dirty="0"/>
                    </a:p>
                  </a:txBody>
                  <a:tcPr marL="54864" marR="54864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IMPLICANCIAS 2027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Defender Lavado frente a Philco, entrar en no-frost y escalar Cocción sin resignar precio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Fuente: GfK (Brands Timeseries) cargado en el tablero de Mercado; extracto del 19-oct-2026. MAT = acumulado móvil 12 meses. Último mes disponible: jul-2026. Ranking sin contar "Otras".</a:t>
            </a:r>
            <a:endParaRPr lang="en-US" sz="900" dirty="0"/>
          </a:p>
        </p:txBody>
      </p:sp>
      <p:sp>
        <p:nvSpPr>
          <p:cNvPr id="5" name="vin13"/>
          <p:cNvSpPr txBox="1"/>
          <p:nvPr/>
        </p:nvSpPr>
        <p:spPr>
          <a:xfrm>
            <a:off x="457200" y="1600200"/>
            <a:ext cx="11247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Lavado (defender):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plan específico para el segmento bajo y la carga alta frente a Philco. Revisar precio relativo, surtido y promoción por canal. Antes, validar con sell-out la hipótesis de que la brecha de precio explica la pérdida (hallazgos 3–5).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Refrigeración (crecer donde no está):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Drean es líder solo en el segmento sin no-frost. La recuperación de 2026 hay que sostenerla, y el crecimiento estructural pasa por no-frost, donde el premium se está abaratando (hallazgos 8, 10 y 11).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Cocción (escalar):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mantener inversión y surtido en 55–57 cm o más, cuidando el índice premium (122). Seguir a Escorial en el segmento medio (hallazgos 12–14).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Precio: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medir y fijar objetivos de índice de precio por segmento, no por total: el total esconde la mezcla (hallazgo 15).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Competencia: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seguimiento mensual dedicado a Philco en las tres categorías (hallazgo 16).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tx1"/>
                </a:solidFill>
              </a:rPr>
              <a:t>Medición (condición previa):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 cargar agosto y septiembre de GfK, la fila "Market" (unidades y facturación) y ene–jun 2025 mensual de Refrigeración y Cocción. Así habrá share global, YTD y tamaño de mercado (hallazgo 18).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Anexo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Metodología y limitaciones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56616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Fuentes, definiciones, validaciones y vacíos de la base.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METODOLOGÍA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54864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Definiciones, validaciones y vacíos de la base de mercado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6199632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Fuente: GfK (Brands Timeseries) cargado en el tablero de Mercado; extracto del 19-oct-2026. MAT = acumulado móvil 12 meses. Último mes disponible: jul-2026. Ranking sin contar "Otras".</a:t>
            </a:r>
            <a:endParaRPr lang="en-US" sz="900" dirty="0"/>
          </a:p>
        </p:txBody>
      </p:sp>
      <p:sp>
        <p:nvSpPr>
          <p:cNvPr id="5" name="vin14"/>
          <p:cNvSpPr txBox="1"/>
          <p:nvPr/>
        </p:nvSpPr>
        <p:spPr>
          <a:xfrm>
            <a:off x="457200" y="1600200"/>
            <a:ext cx="11247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Fuente: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exports "Brands Timeseries" de GfK cargados a mano en la tabla mercado_share (9.311 filas). Share en unidades, share en valor e índice de precio (unidades), por marca, categoría y segmento, mensual y MAT.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Consolidación: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el Total de cada categoría es un pull aparte de GfK, no la suma de los segmentos. No se promedian shares. Sin volúmenes, no hay total global ni índice ponderado.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Validaciones: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cada mes suma 100% (Total 2026); no hay duplicados; el índice de precio coincide con share en valor ÷ share en unidades × 100. Se excluyen las filas MAT de nov-2026 (proyección, no dato).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Comparabilidad: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Lavado total ene-24 a jun-25 sin share en valor ni índice. Refrigeración y Cocción MAT antes de jul-25 con menos marcas listadas (suma 78–89%); el share de Drean es comparable. Cocción alto se redefinió (57 cm o más) en ago-2026. El total de Lavado podría incluir semiautomáticos (los segmentos son automáticos): sin verificar.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Mensual vs MAT: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el mensual es volátil (un mes con promoción mueve 3–5 pp); las conclusiones de tendencia se apoyan en el MAT.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chemeClr val="tx1"/>
                </a:solidFill>
              </a:rPr>
              <a:t>Inflación: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no aplica: share e índice de precio son relativos. Correlación no es causalidad: las coincidencias temporales se marcan como tales.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ean Diagnostico 2026">
  <a:themeElements>
    <a:clrScheme name="Drean Diagnostico 2026">
      <a:dk1>
        <a:srgbClr val="111827"/>
      </a:dk1>
      <a:lt1>
        <a:srgbClr val="FFFFFF"/>
      </a:lt1>
      <a:dk2>
        <a:srgbClr val="0B2545"/>
      </a:dk2>
      <a:lt2>
        <a:srgbClr val="F3F4F6"/>
      </a:lt2>
      <a:accent1>
        <a:srgbClr val="0B2545"/>
      </a:accent1>
      <a:accent2>
        <a:srgbClr val="1D4ED8"/>
      </a:accent2>
      <a:accent3>
        <a:srgbClr val="93C5FD"/>
      </a:accent3>
      <a:accent4>
        <a:srgbClr val="EA580C"/>
      </a:accent4>
      <a:accent5>
        <a:srgbClr val="0D9488"/>
      </a:accent5>
      <a:accent6>
        <a:srgbClr val="6B7280"/>
      </a:accent6>
      <a:hlink>
        <a:srgbClr val="1D4ED8"/>
      </a:hlink>
      <a:folHlink>
        <a:srgbClr val="6B7280"/>
      </a:folHlink>
    </a:clrScheme>
    <a:fontScheme name="Drean Diagnostico 2026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Intelligence 2026 · Drean</dc:title>
  <dc:subject>PptxGenJS Presentation</dc:subject>
  <dc:creator>PptxGenJS</dc:creator>
  <cp:lastModifiedBy>PptxGenJS</cp:lastModifiedBy>
  <cp:revision>1</cp:revision>
  <dcterms:created xsi:type="dcterms:W3CDTF">2026-10-19T08:36:57Z</dcterms:created>
  <dcterms:modified xsi:type="dcterms:W3CDTF">2026-10-19T08:36:57Z</dcterms:modified>
</cp:coreProperties>
</file>